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7" r:id="rId4"/>
    <p:sldId id="258" r:id="rId5"/>
    <p:sldId id="268" r:id="rId6"/>
    <p:sldId id="265" r:id="rId7"/>
    <p:sldId id="276" r:id="rId8"/>
    <p:sldId id="271" r:id="rId9"/>
    <p:sldId id="270" r:id="rId10"/>
    <p:sldId id="266" r:id="rId11"/>
    <p:sldId id="272" r:id="rId12"/>
    <p:sldId id="280" r:id="rId13"/>
    <p:sldId id="275" r:id="rId14"/>
    <p:sldId id="264" r:id="rId15"/>
    <p:sldId id="279" r:id="rId16"/>
  </p:sldIdLst>
  <p:sldSz cx="18288000" cy="10287000"/>
  <p:notesSz cx="6858000" cy="9144000"/>
  <p:embeddedFontLst>
    <p:embeddedFont>
      <p:font typeface="Gmarket Sans Medium" panose="02000000000000000000" pitchFamily="2" charset="-128"/>
      <p:regular r:id="rId18"/>
    </p:embeddedFont>
    <p:embeddedFont>
      <p:font typeface="Pretendard Regular" panose="02000503000000020004" pitchFamily="2" charset="-127"/>
      <p:regular r:id="rId19"/>
    </p:embeddedFont>
    <p:embeddedFont>
      <p:font typeface="Cambria Math" panose="02040503050406030204" pitchFamily="18" charset="0"/>
      <p:regular r:id="rId20"/>
    </p:embeddedFont>
    <p:embeddedFont>
      <p:font typeface="Gmarket Sans TTF Medium" panose="02000000000000000000" pitchFamily="2" charset="-128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249E2-3068-C348-962B-5C1A4C929385}" v="256" dt="2025-11-18T10:14:54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4"/>
    <p:restoredTop sz="94660"/>
  </p:normalViewPr>
  <p:slideViewPr>
    <p:cSldViewPr snapToGrid="0">
      <p:cViewPr>
        <p:scale>
          <a:sx n="95" d="100"/>
          <a:sy n="95" d="100"/>
        </p:scale>
        <p:origin x="704" y="5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AE7AB-AA1F-0F47-AC37-9ACFA8BEEC41}" type="datetimeFigureOut">
              <a:rPr kumimoji="1" lang="ko-Kore-KR" altLang="en-US" smtClean="0"/>
              <a:t>2025. 11. 30.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F5DAE-A901-8D41-9E56-EAC56B1538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446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차별점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비용 절감 </a:t>
            </a:r>
            <a:r>
              <a:rPr kumimoji="1" lang="en-US" altLang="ko-KR" dirty="0"/>
              <a:t>/</a:t>
            </a:r>
            <a:r>
              <a:rPr kumimoji="1" lang="ko-KR" altLang="en-US" dirty="0"/>
              <a:t> 고수준 동기화 </a:t>
            </a:r>
            <a:r>
              <a:rPr kumimoji="1" lang="en-US" altLang="ko-KR" dirty="0"/>
              <a:t>/</a:t>
            </a:r>
            <a:r>
              <a:rPr kumimoji="1" lang="ko-KR" altLang="en-US" dirty="0"/>
              <a:t> 실시간 하이라이트 이벤트 발생을 </a:t>
            </a:r>
            <a:r>
              <a:rPr kumimoji="1" lang="en-US" altLang="ko-KR" dirty="0"/>
              <a:t>AI</a:t>
            </a:r>
            <a:r>
              <a:rPr kumimoji="1" lang="ko-KR" altLang="en-US" dirty="0"/>
              <a:t>로 수정해야 </a:t>
            </a:r>
            <a:r>
              <a:rPr kumimoji="1" lang="ko-KR" altLang="en-US"/>
              <a:t>이점이 올라감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F5DAE-A901-8D41-9E56-EAC56B1538F0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7312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F5DAE-A901-8D41-9E56-EAC56B1538F0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314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F5DAE-A901-8D41-9E56-EAC56B1538F0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217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slide" Target="slide14.xml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5.png"/><Relationship Id="rId5" Type="http://schemas.openxmlformats.org/officeDocument/2006/relationships/image" Target="../media/image16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6.png"/><Relationship Id="rId18" Type="http://schemas.openxmlformats.org/officeDocument/2006/relationships/image" Target="../media/image37.png"/><Relationship Id="rId3" Type="http://schemas.openxmlformats.org/officeDocument/2006/relationships/image" Target="../media/image15.png"/><Relationship Id="rId21" Type="http://schemas.openxmlformats.org/officeDocument/2006/relationships/image" Target="../media/image40.png"/><Relationship Id="rId7" Type="http://schemas.openxmlformats.org/officeDocument/2006/relationships/image" Target="../media/image8.png"/><Relationship Id="rId12" Type="http://schemas.openxmlformats.org/officeDocument/2006/relationships/image" Target="../media/image25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4.png"/><Relationship Id="rId5" Type="http://schemas.openxmlformats.org/officeDocument/2006/relationships/image" Target="../media/image16.png"/><Relationship Id="rId15" Type="http://schemas.openxmlformats.org/officeDocument/2006/relationships/image" Target="../media/image34.png"/><Relationship Id="rId10" Type="http://schemas.openxmlformats.org/officeDocument/2006/relationships/image" Target="../media/image23.png"/><Relationship Id="rId19" Type="http://schemas.openxmlformats.org/officeDocument/2006/relationships/image" Target="../media/image38.png"/><Relationship Id="rId4" Type="http://schemas.openxmlformats.org/officeDocument/2006/relationships/image" Target="../media/image6.png"/><Relationship Id="rId9" Type="http://schemas.openxmlformats.org/officeDocument/2006/relationships/image" Target="../media/image32.png"/><Relationship Id="rId1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dex.go.kr/unity/potal/main/EachDtlPageDetail.do?idx_cd=1662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hyperlink" Target="https://www.figma.com/board/XI3YzXLPIV3e9lHe0ffQOw/%EC%A0%9C%EB%AA%A9-%EC%97%86%EC%9D%8C?node-id=0-1&amp;t=qT6HNQdq5GTMI9Yw-1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hyperlink" Target="https://www.figma.com/make/pApc4Eh1HLEneyC79V1w9T/Real-time-Basketball-UI?node-id=0-1&amp;p=f&amp;t=nJZiTvmGhivRmwvZ-0" TargetMode="External"/><Relationship Id="rId5" Type="http://schemas.openxmlformats.org/officeDocument/2006/relationships/image" Target="../media/image17.png"/><Relationship Id="rId10" Type="http://schemas.openxmlformats.org/officeDocument/2006/relationships/hyperlink" Target="https://www.figma.com/make/S0kdzzrk9UT3T4Kz0NCCsl/Authentication-and-Session-Lobby?t=uMfte2tTmzwsZICN-1" TargetMode="External"/><Relationship Id="rId4" Type="http://schemas.openxmlformats.org/officeDocument/2006/relationships/image" Target="../media/image16.png"/><Relationship Id="rId9" Type="http://schemas.openxmlformats.org/officeDocument/2006/relationships/hyperlink" Target="https://www.youtube.com/watch?v=ry7smN-UiBo&amp;list=PLD8aFkwTbkNvBeGP-4CvhCjX6h72qqkY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952500"/>
            <a:ext cx="16344900" cy="850900"/>
          </a:xfrm>
          <a:prstGeom prst="rect">
            <a:avLst/>
          </a:prstGeom>
          <a:effectLst>
            <a:outerShdw dist="39040" dir="5400000">
              <a:srgbClr val="9E9E9E">
                <a:alpha val="100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4415766" y="7670800"/>
            <a:ext cx="94869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899"/>
              </a:lnSpc>
            </a:pPr>
            <a:r>
              <a:rPr lang="en-US" altLang="ko-KR" dirty="0" err="1">
                <a:solidFill>
                  <a:srgbClr val="000000"/>
                </a:solidFill>
                <a:latin typeface="Gmarket Sans Medium"/>
                <a:ea typeface="Gmarket Sans Medium"/>
              </a:rPr>
              <a:t>SyncLab</a:t>
            </a:r>
            <a:r>
              <a:rPr lang="en-US" altLang="ko-KR" dirty="0">
                <a:solidFill>
                  <a:srgbClr val="000000"/>
                </a:solidFill>
                <a:latin typeface="Gmarket Sans Medium"/>
                <a:ea typeface="Gmarket Sans Medium"/>
              </a:rPr>
              <a:t>      </a:t>
            </a:r>
            <a:r>
              <a:rPr lang="en-US" dirty="0">
                <a:solidFill>
                  <a:srgbClr val="000000"/>
                </a:solidFill>
                <a:latin typeface="Gmarket Sans Medium"/>
                <a:ea typeface="Gmarket Sans Medium"/>
              </a:rPr>
              <a:t>|</a:t>
            </a:r>
            <a:r>
              <a:rPr lang="en-US" altLang="ko-KR" sz="18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</a:rPr>
              <a:t>      </a:t>
            </a:r>
            <a:r>
              <a:rPr lang="ko-KR" altLang="en-US" sz="18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</a:rPr>
              <a:t>발표자 </a:t>
            </a:r>
            <a:r>
              <a:rPr lang="en-US" altLang="ko-KR" sz="18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</a:rPr>
              <a:t>: </a:t>
            </a:r>
            <a:r>
              <a:rPr lang="en-US" altLang="ko-KR" dirty="0" err="1">
                <a:solidFill>
                  <a:srgbClr val="000000"/>
                </a:solidFill>
                <a:latin typeface="Gmarket Sans Medium"/>
                <a:ea typeface="Gmarket Sans Medium"/>
              </a:rPr>
              <a:t>홍지우</a:t>
            </a:r>
            <a:r>
              <a:rPr lang="ko-KR" altLang="en-US" dirty="0">
                <a:solidFill>
                  <a:srgbClr val="000000"/>
                </a:solidFill>
                <a:latin typeface="Gmarket Sans Medium"/>
                <a:ea typeface="Gmarket Sans Medium"/>
              </a:rPr>
              <a:t> </a:t>
            </a:r>
            <a:r>
              <a:rPr lang="en-US" sz="18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</a:rPr>
              <a:t>      </a:t>
            </a:r>
            <a:r>
              <a:rPr lang="en-US" dirty="0">
                <a:solidFill>
                  <a:srgbClr val="000000"/>
                </a:solidFill>
                <a:latin typeface="Gmarket Sans Medium"/>
                <a:ea typeface="Gmarket Sans Medium"/>
              </a:rPr>
              <a:t>|</a:t>
            </a:r>
            <a:r>
              <a:rPr lang="en-US" sz="1800" b="0" i="0" u="none" strike="noStrike" dirty="0">
                <a:solidFill>
                  <a:srgbClr val="000000"/>
                </a:solidFill>
                <a:latin typeface="Gmarket Sans Medium"/>
                <a:ea typeface="Gmarket Sans Medium"/>
              </a:rPr>
              <a:t>      </a:t>
            </a:r>
            <a:r>
              <a:rPr lang="en-US" dirty="0">
                <a:solidFill>
                  <a:srgbClr val="000000"/>
                </a:solidFill>
                <a:latin typeface="Gmarket Sans Medium"/>
                <a:ea typeface="Gmarket Sans Medium"/>
              </a:rPr>
              <a:t>2021150045</a:t>
            </a:r>
            <a:endParaRPr lang="en-US" sz="1800" b="0" i="0" u="none" strike="noStrike" dirty="0">
              <a:solidFill>
                <a:srgbClr val="000000"/>
              </a:solidFill>
              <a:latin typeface="Gmarket Sans Medium"/>
              <a:ea typeface="Gmarket Sans Medium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181100"/>
            <a:ext cx="342900" cy="34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-279400"/>
            <a:ext cx="139700" cy="172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0" y="1181100"/>
            <a:ext cx="342900" cy="34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5200" y="-279400"/>
            <a:ext cx="139700" cy="1727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289300" y="8851900"/>
            <a:ext cx="11709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endParaRPr lang="en-US" sz="1900" b="0" i="0" u="none" strike="noStrike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43100" y="3822700"/>
            <a:ext cx="14401800" cy="356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9600" spc="-400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스마트폰 기반 </a:t>
            </a:r>
            <a:endParaRPr lang="en-US" altLang="ko-KR" sz="9600" spc="-400" dirty="0">
              <a:solidFill>
                <a:srgbClr val="595959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9600" spc="-400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농구경기 </a:t>
            </a:r>
            <a:r>
              <a:rPr lang="ko-KR" altLang="en-US" sz="9600" b="0" i="0" u="none" strike="noStrike" spc="-400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편집 시스템</a:t>
            </a:r>
            <a:endParaRPr lang="ko-KR" sz="9600" b="0" i="0" u="none" strike="noStrike" spc="-400" dirty="0">
              <a:solidFill>
                <a:srgbClr val="595959"/>
              </a:solidFill>
              <a:ea typeface="Gmarket Sans Medium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200" y="2603500"/>
            <a:ext cx="4686300" cy="749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048500" y="2819400"/>
            <a:ext cx="41910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종합 </a:t>
            </a:r>
            <a:r>
              <a:rPr lang="ko-KR" altLang="en-US" sz="21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설계 제안서</a:t>
            </a:r>
            <a:r>
              <a:rPr lang="ko-KR" altLang="en-US" sz="2100" b="0" i="0" u="none" strike="noStrike">
                <a:solidFill>
                  <a:srgbClr val="000000"/>
                </a:solidFill>
                <a:latin typeface="Gmarket Sans Medium"/>
              </a:rPr>
              <a:t> </a:t>
            </a:r>
            <a:endParaRPr lang="en-US" sz="2100" b="0" i="0" u="none" strike="noStrike">
              <a:solidFill>
                <a:srgbClr val="000000"/>
              </a:solidFill>
              <a:latin typeface="Gmarket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0" y="863600"/>
            <a:ext cx="95377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/>
              </a:rPr>
              <a:t>Miri 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533400"/>
            <a:ext cx="97282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00" y="6350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4600" y="-571500"/>
            <a:ext cx="114300" cy="1435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93800" y="3657600"/>
            <a:ext cx="59309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300">
                <a:solidFill>
                  <a:srgbClr val="000000"/>
                </a:solidFill>
                <a:latin typeface="Gmarket Sans Medium"/>
              </a:rPr>
              <a:t>CONTENTS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100" y="3403600"/>
            <a:ext cx="9525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100" y="5702300"/>
            <a:ext cx="95250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100" y="6845300"/>
            <a:ext cx="9525000" cy="12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100" y="8001000"/>
            <a:ext cx="9525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100" y="4546600"/>
            <a:ext cx="9525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100" y="2247900"/>
            <a:ext cx="9525000" cy="12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277600" y="25908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spc="-100" dirty="0">
                <a:solidFill>
                  <a:srgbClr val="000000"/>
                </a:solidFill>
                <a:ea typeface="Gmarket Sans Medium"/>
              </a:rPr>
              <a:t>관련 사례</a:t>
            </a:r>
            <a:r>
              <a:rPr lang="ko-KR" altLang="en-US" sz="2500" b="0" i="0" u="none" strike="noStrike" spc="-100" dirty="0">
                <a:solidFill>
                  <a:srgbClr val="000000"/>
                </a:solidFill>
                <a:ea typeface="Gmarket Sans Medium"/>
              </a:rPr>
              <a:t> 및 </a:t>
            </a:r>
            <a:r>
              <a:rPr lang="ko-KR" altLang="en-US" sz="2500" spc="-100" dirty="0">
                <a:solidFill>
                  <a:srgbClr val="000000"/>
                </a:solidFill>
                <a:ea typeface="Gmarket Sans Medium"/>
              </a:rPr>
              <a:t>해결 방안</a:t>
            </a:r>
            <a:endParaRPr lang="ko-KR" sz="2500" b="0" i="0" u="none" strike="noStrike" spc="-100" dirty="0">
              <a:solidFill>
                <a:srgbClr val="000000"/>
              </a:solidFill>
              <a:ea typeface="Gmarket Sans Medium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2527300"/>
            <a:ext cx="596900" cy="5969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724900" y="26924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37465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b="0" i="0" u="none" strike="noStrike" spc="-100">
                <a:solidFill>
                  <a:srgbClr val="000000"/>
                </a:solidFill>
                <a:ea typeface="Gmarket Sans Medium"/>
              </a:rPr>
              <a:t>주제 개요</a:t>
            </a:r>
            <a:endParaRPr lang="ko-KR" sz="2500" b="0" i="0" u="none" strike="noStrike" spc="-100">
              <a:solidFill>
                <a:srgbClr val="000000"/>
              </a:solidFill>
              <a:ea typeface="Gmarket Sans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3683000"/>
            <a:ext cx="596900" cy="596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724900" y="38354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48895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b="0" i="0" u="none" strike="noStrike" spc="-100">
                <a:solidFill>
                  <a:srgbClr val="000000"/>
                </a:solidFill>
                <a:ea typeface="Gmarket Sans Medium"/>
              </a:rPr>
              <a:t>개발 전략 및 개발 목표</a:t>
            </a:r>
            <a:endParaRPr lang="ko-KR" sz="2500" b="0" i="0" u="none" strike="noStrike" spc="-100">
              <a:solidFill>
                <a:srgbClr val="000000"/>
              </a:solidFill>
              <a:ea typeface="Gmarket Sans Medium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4826000"/>
            <a:ext cx="596900" cy="5969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8724900" y="49911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7600" y="60452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b="0" i="0" u="none" strike="noStrike" spc="-100">
                <a:solidFill>
                  <a:srgbClr val="000000"/>
                </a:solidFill>
                <a:ea typeface="Gmarket Sans Medium"/>
              </a:rPr>
              <a:t>요구사항 및 개념적 설계</a:t>
            </a:r>
            <a:endParaRPr lang="ko-KR" sz="2500" b="0" i="0" u="none" strike="noStrike" spc="-100">
              <a:solidFill>
                <a:srgbClr val="000000"/>
              </a:solidFill>
              <a:ea typeface="Gmarket Sans Medium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5981700"/>
            <a:ext cx="596900" cy="5969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8724900" y="61341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39500" y="71882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b="0" i="0" u="none" strike="noStrike" spc="-100">
                <a:solidFill>
                  <a:srgbClr val="000000"/>
                </a:solidFill>
                <a:ea typeface="Gmarket Sans Medium"/>
              </a:rPr>
              <a:t>시스템 시나리오</a:t>
            </a:r>
            <a:endParaRPr lang="ko-KR" sz="2500" b="0" i="0" u="none" strike="noStrike" spc="-100">
              <a:solidFill>
                <a:srgbClr val="000000"/>
              </a:solidFill>
              <a:ea typeface="Gmarket Sans Medium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7124700"/>
            <a:ext cx="596900" cy="5969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8724900" y="72898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77600" y="83439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b="0" i="0" u="none" strike="noStrike" spc="-100">
                <a:solidFill>
                  <a:srgbClr val="000000"/>
                </a:solidFill>
                <a:ea typeface="Gmarket Sans Medium"/>
              </a:rPr>
              <a:t>참고 문헌</a:t>
            </a:r>
            <a:endParaRPr lang="ko-KR" sz="2500" b="0" i="0" u="none" strike="noStrike" spc="-100">
              <a:solidFill>
                <a:srgbClr val="000000"/>
              </a:solidFill>
              <a:ea typeface="Gmarket Sans Medium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6000" y="8280400"/>
            <a:ext cx="596900" cy="5969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8724900" y="84328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77600" y="1447800"/>
            <a:ext cx="586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500" spc="-100">
                <a:solidFill>
                  <a:srgbClr val="000000"/>
                </a:solidFill>
                <a:ea typeface="Gmarket Sans Medium"/>
              </a:rPr>
              <a:t>주제 개요 및 배경</a:t>
            </a:r>
            <a:endParaRPr lang="ko-KR" sz="2500" b="0" i="0" u="none" strike="noStrike" spc="-100">
              <a:solidFill>
                <a:srgbClr val="000000"/>
              </a:solidFill>
              <a:ea typeface="Gmarket Sans Medium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6000" y="1384300"/>
            <a:ext cx="596900" cy="5969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8724900" y="1536700"/>
            <a:ext cx="4318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700" b="0" i="0" u="none" strike="noStrike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A961-A888-92D1-FC8F-B8487048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41BC5D6-09D5-53D6-7BBF-5B0A7457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FA72BAF-FE8A-B42A-B240-C1DEAEAF9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54FA12F9-C5CD-2A53-B3BB-706CC6D4F201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124F07D-751E-C176-B6EC-AC5F643E8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883FE92C-3309-B0FA-91FD-5659FAF247DE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0</a:t>
            </a:r>
            <a:r>
              <a:rPr lang="en-US" altLang="ko-KR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3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916AF79-1DAB-687E-8B76-E43E46D66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A73C983B-C5EC-BB98-8D77-FAD8FA2E0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F08FCE6D-0886-D2B4-7C47-A0F30CFDAB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6430A43-114C-6964-C564-F2EF72B60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7328DCFF-FBD9-1A70-CECA-98772170F8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62DFFCE5-C234-77FD-242F-339FE62AA9FD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C27C60C-2FD9-AD8D-2784-8C3F2DA24BC2}"/>
              </a:ext>
            </a:extLst>
          </p:cNvPr>
          <p:cNvSpPr txBox="1"/>
          <p:nvPr/>
        </p:nvSpPr>
        <p:spPr>
          <a:xfrm>
            <a:off x="1397569" y="2089340"/>
            <a:ext cx="318713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i="0" u="none" strike="noStrike" spc="-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주제 </a:t>
            </a:r>
            <a:r>
              <a:rPr lang="ko-KR" altLang="en-US" sz="5800" b="1" spc="-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개요</a:t>
            </a:r>
            <a:endParaRPr lang="ko-KR" sz="5800" b="1" i="0" u="none" strike="noStrike" spc="-20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AC2EF6-569A-4645-D213-7519AE1633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588000" y="5086350"/>
            <a:ext cx="8026400" cy="127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6DBE63-5DF1-BDB1-43A3-D39066CB14A6}"/>
              </a:ext>
            </a:extLst>
          </p:cNvPr>
          <p:cNvSpPr txBox="1"/>
          <p:nvPr/>
        </p:nvSpPr>
        <p:spPr>
          <a:xfrm>
            <a:off x="1257300" y="3771900"/>
            <a:ext cx="7239000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Gmarket Sans Medium" panose="020B0600000101010101" charset="-127"/>
                <a:ea typeface="Gmarket Sans Medium" panose="020B0600000101010101" charset="-127"/>
              </a:rPr>
              <a:t>한눈에 뷰 프로젝트는 스마트폰으로 촬영한 여러 개의 농구 경기를 웹에서 편집하여 하나의 동영상으로 제작하는 시스템입니다</a:t>
            </a:r>
            <a:r>
              <a:rPr lang="en-US" altLang="ko-KR" sz="2800" dirty="0"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lang="ko-KR" altLang="en-US" sz="2800" dirty="0"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19" name="그림 1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013AF6-6F57-165C-946C-2101A21EB0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300" y="2353341"/>
            <a:ext cx="7772400" cy="58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7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0</a:t>
            </a:r>
            <a:r>
              <a:rPr lang="en-US" altLang="ko-KR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4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89608" y="3946240"/>
            <a:ext cx="2653351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3200" b="0" i="0" u="none" strike="noStrike" spc="-1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주제 선정 배경</a:t>
            </a:r>
            <a:endParaRPr lang="en-US" sz="3200" b="0" i="0" u="none" strike="noStrike" spc="-10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7569" y="2089340"/>
            <a:ext cx="318713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i="0" u="none" strike="noStrike" spc="-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주제 배경</a:t>
            </a:r>
            <a:endParaRPr lang="ko-KR" sz="5800" b="1" i="0" u="none" strike="noStrike" spc="-20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19" name="그림 18" descr="그래프, 라인, 도표, 경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C060B1-321B-9F51-DFDF-A684C65107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567" y="2412026"/>
            <a:ext cx="8932933" cy="5462948"/>
          </a:xfrm>
          <a:prstGeom prst="rect">
            <a:avLst/>
          </a:prstGeom>
        </p:spPr>
      </p:pic>
      <p:sp>
        <p:nvSpPr>
          <p:cNvPr id="20" name="TextBox 15">
            <a:extLst>
              <a:ext uri="{FF2B5EF4-FFF2-40B4-BE49-F238E27FC236}">
                <a16:creationId xmlns:a16="http://schemas.microsoft.com/office/drawing/2014/main" id="{52B52960-D7BD-CBC4-E64C-F365D86432B6}"/>
              </a:ext>
            </a:extLst>
          </p:cNvPr>
          <p:cNvSpPr txBox="1"/>
          <p:nvPr/>
        </p:nvSpPr>
        <p:spPr>
          <a:xfrm>
            <a:off x="1258341" y="5019580"/>
            <a:ext cx="6652715" cy="7050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>
              <a:lnSpc>
                <a:spcPct val="124499"/>
              </a:lnSpc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코로나 이후 프로 리그의 경기 당 평균 관중 증가</a:t>
            </a:r>
            <a:endParaRPr lang="en-US" altLang="ko-KR" sz="24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ABD9D1-9C91-BBF2-97BD-3C1A9BF4B2FC}"/>
              </a:ext>
            </a:extLst>
          </p:cNvPr>
          <p:cNvSpPr txBox="1"/>
          <p:nvPr/>
        </p:nvSpPr>
        <p:spPr>
          <a:xfrm>
            <a:off x="17081500" y="487187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hlinkClick r:id="rId9" action="ppaction://hlinksldjump"/>
              </a:rPr>
              <a:t>[1]</a:t>
            </a:r>
            <a:endParaRPr lang="ko-KR" altLang="en-US"/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E6D90B74-ACFE-277C-5D86-09C4F173E1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3829049" y="5086350"/>
            <a:ext cx="80264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BDF8-A52F-A357-0C95-25B76059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C510738-0B3E-613D-4C87-49ADEF50F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6CE6A22-BD8A-3317-D1A3-6D3AF4CBB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106D4D5-0589-D660-7A32-E8ECC0C6A377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B20E466-73F3-EA62-600E-73E9F6B66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3E297BCF-467F-7852-A0FD-F1AECFA46EDD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0</a:t>
            </a:r>
            <a:r>
              <a:rPr lang="en-US" altLang="ko-KR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5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13A9EA30-8E2E-09FC-9047-D06B16166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6174D255-08EE-540E-FC29-635C46ED0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64671AB-F50C-C0F0-A3A2-0C6E1D6558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99D608E8-CF6F-EB91-65F2-F743A915D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7002E6C4-F8A9-3D8C-85FD-84618302E7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F4632BB-0A70-61BB-F658-68B51C25E972}"/>
              </a:ext>
            </a:extLst>
          </p:cNvPr>
          <p:cNvSpPr txBox="1"/>
          <p:nvPr/>
        </p:nvSpPr>
        <p:spPr>
          <a:xfrm>
            <a:off x="1389608" y="3946240"/>
            <a:ext cx="2653351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3200" b="0" i="0" u="none" strike="noStrike" spc="-1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주제 선정 배경</a:t>
            </a:r>
            <a:endParaRPr lang="en-US" sz="3200" b="0" i="0" u="none" strike="noStrike" spc="-10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F779EC5-BDB1-F84E-795E-0DFBAD160305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A448D97-6D60-90AA-0306-77AE7EF4EACB}"/>
              </a:ext>
            </a:extLst>
          </p:cNvPr>
          <p:cNvSpPr txBox="1"/>
          <p:nvPr/>
        </p:nvSpPr>
        <p:spPr>
          <a:xfrm>
            <a:off x="1397569" y="2089340"/>
            <a:ext cx="318713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i="0" u="none" strike="noStrike" spc="-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주제 배경</a:t>
            </a:r>
            <a:endParaRPr lang="ko-KR" sz="5800" b="1" i="0" u="none" strike="noStrike" spc="-20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0FDE2A0C-F257-5741-F180-331BDD0BDCC7}"/>
              </a:ext>
            </a:extLst>
          </p:cNvPr>
          <p:cNvSpPr txBox="1"/>
          <p:nvPr/>
        </p:nvSpPr>
        <p:spPr>
          <a:xfrm>
            <a:off x="1258341" y="5092700"/>
            <a:ext cx="6652715" cy="2312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24499"/>
              </a:lnSpc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단일 카메라 중심 중계</a:t>
            </a:r>
            <a:endParaRPr lang="en-US" altLang="ko-KR" sz="24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342900" lvl="0" indent="-342900">
              <a:lnSpc>
                <a:spcPct val="124499"/>
              </a:lnSpc>
              <a:buFont typeface="Arial" panose="020B0604020202020204" pitchFamily="34" charset="0"/>
              <a:buChar char="•"/>
            </a:pPr>
            <a:endParaRPr lang="en-US" altLang="ko-KR" sz="24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342900" lvl="0" indent="-342900">
              <a:lnSpc>
                <a:spcPct val="124499"/>
              </a:lnSpc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중계 장비의 가격적 부담 존재</a:t>
            </a:r>
            <a:endParaRPr lang="en-US" altLang="ko-KR" sz="24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342900" lvl="0" indent="-342900">
              <a:lnSpc>
                <a:spcPct val="124499"/>
              </a:lnSpc>
              <a:buFont typeface="Arial" panose="020B0604020202020204" pitchFamily="34" charset="0"/>
              <a:buChar char="•"/>
            </a:pPr>
            <a:endParaRPr lang="en-US" altLang="ko-KR" sz="24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342900" lvl="0" indent="-342900">
              <a:lnSpc>
                <a:spcPct val="124499"/>
              </a:lnSpc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편집된 하이라이트 영상의 부재</a:t>
            </a:r>
            <a:endParaRPr lang="en-US" altLang="ko-KR" sz="24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18986575-CEE2-71B1-93AC-7316CB8BA7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829049" y="5086350"/>
            <a:ext cx="8026400" cy="12700"/>
          </a:xfrm>
          <a:prstGeom prst="rect">
            <a:avLst/>
          </a:prstGeom>
        </p:spPr>
      </p:pic>
      <p:pic>
        <p:nvPicPr>
          <p:cNvPr id="27" name="그림 26" descr="운동 경기, 스포츠, 필드 하우스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703BDD-9283-3417-FE6E-A38E1A6A79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85" y="1171199"/>
            <a:ext cx="6795160" cy="3756401"/>
          </a:xfrm>
          <a:prstGeom prst="rect">
            <a:avLst/>
          </a:prstGeom>
        </p:spPr>
      </p:pic>
      <p:pic>
        <p:nvPicPr>
          <p:cNvPr id="29" name="그림 28" descr="운동 경기, 스포츠, 필드 하우스, 스포츠 장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6DB4AF-50DA-959B-BA03-8BFF1B8FEF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85" y="5092700"/>
            <a:ext cx="6795160" cy="37592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AF0F304-B628-01C5-D244-696F92630DC3}"/>
              </a:ext>
            </a:extLst>
          </p:cNvPr>
          <p:cNvSpPr txBox="1"/>
          <p:nvPr/>
        </p:nvSpPr>
        <p:spPr>
          <a:xfrm>
            <a:off x="16145824" y="848256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hlinkClick r:id="rId11" action="ppaction://hlinksldjump"/>
              </a:rPr>
              <a:t>[2]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42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814E-0A86-6E40-0AFD-3CB89D73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AD16BC6-0E1D-F06E-FA84-1816F5969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44F84DE-6976-1BA8-8CC1-B1A9A31F2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DBCC4EAD-6181-8D07-55DA-FA3F8332B9C0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22824E1-7087-5694-FF03-941EF4AC5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061D70E9-F107-6DC2-87C9-2967BCB0BFF0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0</a:t>
            </a:r>
            <a:r>
              <a:rPr lang="en-US" altLang="ko-KR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6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35BABEDF-8E4D-56BA-9155-095BE07D0C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23A30292-027D-D4C7-E444-E8646D4B44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9538C687-7D0F-61D0-03D4-82AE3EF70D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1E3F95D-D69E-157B-96B3-71D5256BE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F842FE70-C287-83A8-EBF7-6359B7783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FD101C28-8CEC-20B0-C556-A2383C2AC725}"/>
              </a:ext>
            </a:extLst>
          </p:cNvPr>
          <p:cNvSpPr txBox="1"/>
          <p:nvPr/>
        </p:nvSpPr>
        <p:spPr>
          <a:xfrm>
            <a:off x="1460500" y="3845020"/>
            <a:ext cx="7391400" cy="220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19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en-US" sz="1900" b="0" i="0" u="none" strike="noStrike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DB9B9E8-A9AF-2E70-6660-397BD954B0DB}"/>
              </a:ext>
            </a:extLst>
          </p:cNvPr>
          <p:cNvSpPr txBox="1"/>
          <p:nvPr/>
        </p:nvSpPr>
        <p:spPr>
          <a:xfrm>
            <a:off x="1460500" y="3118040"/>
            <a:ext cx="557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endParaRPr lang="en-US" sz="2400" b="0" i="0" u="none" strike="noStrike" spc="-10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0B70868-67F1-87C1-99DD-1B61ACB96EAE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00CB42E-3E42-A86F-B822-F515AE7E62D6}"/>
              </a:ext>
            </a:extLst>
          </p:cNvPr>
          <p:cNvSpPr txBox="1"/>
          <p:nvPr/>
        </p:nvSpPr>
        <p:spPr>
          <a:xfrm>
            <a:off x="1397569" y="2089340"/>
            <a:ext cx="318713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관련</a:t>
            </a:r>
            <a:r>
              <a:rPr lang="ko-KR" altLang="en-US" sz="5800" b="1" i="0" u="none" strike="noStrike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사례</a:t>
            </a:r>
            <a:endParaRPr lang="ko-KR" sz="5800" b="1" i="0" u="none" strike="noStrike" spc="-200" dirty="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1C236BC-9024-E90B-BD53-209C262C5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557614"/>
              </p:ext>
            </p:extLst>
          </p:nvPr>
        </p:nvGraphicFramePr>
        <p:xfrm>
          <a:off x="3841748" y="3448239"/>
          <a:ext cx="12803190" cy="493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0638">
                  <a:extLst>
                    <a:ext uri="{9D8B030D-6E8A-4147-A177-3AD203B41FA5}">
                      <a16:colId xmlns:a16="http://schemas.microsoft.com/office/drawing/2014/main" val="3491439418"/>
                    </a:ext>
                  </a:extLst>
                </a:gridCol>
                <a:gridCol w="2560638">
                  <a:extLst>
                    <a:ext uri="{9D8B030D-6E8A-4147-A177-3AD203B41FA5}">
                      <a16:colId xmlns:a16="http://schemas.microsoft.com/office/drawing/2014/main" val="2867579793"/>
                    </a:ext>
                  </a:extLst>
                </a:gridCol>
                <a:gridCol w="2560638">
                  <a:extLst>
                    <a:ext uri="{9D8B030D-6E8A-4147-A177-3AD203B41FA5}">
                      <a16:colId xmlns:a16="http://schemas.microsoft.com/office/drawing/2014/main" val="3791599549"/>
                    </a:ext>
                  </a:extLst>
                </a:gridCol>
                <a:gridCol w="2560638">
                  <a:extLst>
                    <a:ext uri="{9D8B030D-6E8A-4147-A177-3AD203B41FA5}">
                      <a16:colId xmlns:a16="http://schemas.microsoft.com/office/drawing/2014/main" val="1797714072"/>
                    </a:ext>
                  </a:extLst>
                </a:gridCol>
                <a:gridCol w="2560638">
                  <a:extLst>
                    <a:ext uri="{9D8B030D-6E8A-4147-A177-3AD203B41FA5}">
                      <a16:colId xmlns:a16="http://schemas.microsoft.com/office/drawing/2014/main" val="985798072"/>
                    </a:ext>
                  </a:extLst>
                </a:gridCol>
              </a:tblGrid>
              <a:tr h="987705">
                <a:tc>
                  <a:txBody>
                    <a:bodyPr/>
                    <a:lstStyle/>
                    <a:p>
                      <a:pPr algn="ctr"/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Adobe Premiere Pro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2000" dirty="0" err="1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CapCut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2000" dirty="0" err="1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Kapwing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u="sng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한눈에 뷰</a:t>
                      </a:r>
                      <a:endParaRPr lang="ko-Kore-KR" altLang="en-US" sz="2000" u="sng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901289"/>
                  </a:ext>
                </a:extLst>
              </a:tr>
              <a:tr h="98770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싱크</a:t>
                      </a:r>
                      <a:r>
                        <a:rPr lang="ko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 방식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오디오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수동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수동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u="sng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절대</a:t>
                      </a:r>
                      <a:r>
                        <a:rPr lang="ko-KR" altLang="en-US" sz="2000" u="sng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 시간</a:t>
                      </a:r>
                      <a:endParaRPr lang="ko-Kore-KR" altLang="en-US" sz="2000" u="sng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074804"/>
                  </a:ext>
                </a:extLst>
              </a:tr>
              <a:tr h="98770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파일</a:t>
                      </a:r>
                      <a:r>
                        <a:rPr lang="ko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 수집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수동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수동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수동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u="sng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자동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175637"/>
                  </a:ext>
                </a:extLst>
              </a:tr>
              <a:tr h="98770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하드웨어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워크스테이션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고사양</a:t>
                      </a:r>
                      <a:r>
                        <a:rPr lang="ko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 </a:t>
                      </a:r>
                      <a:r>
                        <a:rPr lang="en-US" altLang="ko-KR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PC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노트북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u="sng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노트북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089975"/>
                  </a:ext>
                </a:extLst>
              </a:tr>
              <a:tr h="98770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멀티캠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X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200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X</a:t>
                      </a:r>
                      <a:endParaRPr lang="ko-Kore-KR" altLang="en-US" sz="20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2000" u="sng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340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361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0220-C1BC-F3AC-3558-3C2419A9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9CFFCF-458C-A3FF-D177-73088D71A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B9F2132-7953-49F4-2C91-2BF294BAA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7ED4BCE-0701-CFC1-096E-C605DA4A02BE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D3BEB1B-256E-E522-68ED-6CB1261A3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1208DC5-DF0B-3EAD-AB09-A1E8C30192FC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0</a:t>
            </a:r>
            <a:r>
              <a:rPr lang="en-US" altLang="ko-KR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7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B935FF56-7DF8-1506-F6CD-169BB4DFD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A57836F-12F7-43A4-1F6A-C21D898D7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3B049B5-D5F4-22BB-6D93-481418DD7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8CE6B200-4E52-8EC6-3812-8FDCFEF39A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54A5059A-023F-9EE5-65F6-4AF2A1DEFE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538A81F6-7683-0459-539B-A13ED9675DCE}"/>
              </a:ext>
            </a:extLst>
          </p:cNvPr>
          <p:cNvSpPr txBox="1"/>
          <p:nvPr/>
        </p:nvSpPr>
        <p:spPr>
          <a:xfrm>
            <a:off x="1389607" y="3194241"/>
            <a:ext cx="15399793" cy="489681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1" indent="-457200">
              <a:lnSpc>
                <a:spcPct val="124499"/>
              </a:lnSpc>
              <a:buFont typeface="Arial" panose="020B0604020202020204" pitchFamily="34" charset="0"/>
              <a:buChar char="•"/>
            </a:pP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해결 방안 </a:t>
            </a:r>
            <a:r>
              <a:rPr lang="en-US" altLang="ko-KR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전용 촬영 모바일 앱을 제작하고 여러 영상에 대해 동기화 진행</a:t>
            </a:r>
            <a:endParaRPr lang="en-US" altLang="ko-KR" sz="32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1">
              <a:lnSpc>
                <a:spcPct val="124499"/>
              </a:lnSpc>
            </a:pPr>
            <a:r>
              <a:rPr lang="en-US" altLang="ko-KR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			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프록시 편집 기술을 통해 </a:t>
            </a:r>
            <a:r>
              <a:rPr lang="ko-KR" altLang="en-US" sz="3200" spc="-100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저화질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영상으로 변환 후 편집 진행</a:t>
            </a:r>
            <a:endParaRPr lang="en-US" altLang="ko-KR" sz="32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1">
              <a:lnSpc>
                <a:spcPct val="124499"/>
              </a:lnSpc>
            </a:pPr>
            <a:r>
              <a:rPr lang="en-US" altLang="ko-KR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			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편집 데이터를 통해 원본 영상을 편집</a:t>
            </a:r>
            <a:endParaRPr lang="en-US" altLang="ko-KR" sz="32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914400" lvl="1" indent="-457200">
              <a:lnSpc>
                <a:spcPct val="124499"/>
              </a:lnSpc>
              <a:buFont typeface="Arial" panose="020B0604020202020204" pitchFamily="34" charset="0"/>
              <a:buChar char="•"/>
            </a:pPr>
            <a:endParaRPr lang="en-US" altLang="ko-KR" sz="32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marL="914400" lvl="1" indent="-457200">
              <a:lnSpc>
                <a:spcPct val="124499"/>
              </a:lnSpc>
              <a:buFont typeface="Arial" panose="020B0604020202020204" pitchFamily="34" charset="0"/>
              <a:buChar char="•"/>
            </a:pP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기대효과 </a:t>
            </a:r>
            <a:r>
              <a:rPr lang="en-US" altLang="ko-KR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: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오디오 기반이 아닌 절대 시간 기반 동기화를 통한 안정성</a:t>
            </a:r>
            <a:endParaRPr lang="en-US" altLang="ko-KR" sz="32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5">
              <a:lnSpc>
                <a:spcPct val="124499"/>
              </a:lnSpc>
            </a:pPr>
            <a:r>
              <a:rPr lang="en-US" altLang="ko-KR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	</a:t>
            </a:r>
            <a:r>
              <a:rPr lang="ko-KR" altLang="en-US" sz="3200" spc="-100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저화질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변환으로 인한 편집 성능 향상</a:t>
            </a:r>
            <a:endParaRPr lang="en-US" altLang="ko-KR" sz="32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5">
              <a:lnSpc>
                <a:spcPct val="124499"/>
              </a:lnSpc>
            </a:pPr>
            <a:r>
              <a:rPr lang="en-US" altLang="ko-KR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	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아마추어</a:t>
            </a:r>
            <a:r>
              <a:rPr lang="en-US" altLang="ko-KR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</a:t>
            </a:r>
            <a:r>
              <a:rPr lang="ko-KR" altLang="en-US" sz="3200" spc="-1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대학 농구 경기 중계의 비용적 절감 효과</a:t>
            </a:r>
            <a:endParaRPr lang="en-US" altLang="ko-KR" sz="3200" spc="-1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B011AD4-7ABB-46F2-3497-F6FE45C21C58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A1035C4-A917-AC9C-780A-A6A268F112DC}"/>
              </a:ext>
            </a:extLst>
          </p:cNvPr>
          <p:cNvSpPr txBox="1"/>
          <p:nvPr/>
        </p:nvSpPr>
        <p:spPr>
          <a:xfrm>
            <a:off x="1397569" y="2089340"/>
            <a:ext cx="8117134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i="0" u="none" strike="noStrike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해결 방안 및 기대 효과</a:t>
            </a:r>
            <a:endParaRPr lang="ko-KR" sz="5800" b="1" i="0" u="none" strike="noStrike" spc="-200" dirty="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936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72E67-7351-E6C6-F0A1-9AFA42B4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4A0F7C-FB42-1215-9C44-28DA88A1538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889079"/>
            <a:ext cx="171072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081A608-4A6D-ABB9-B24E-B927BF186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A8EB30C1-2578-5D80-CA00-6F9F681C34EC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F2088E4-F59D-3DF2-12B0-E7BD855BD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FF57432-7986-848D-89DC-3C7BBF152E60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08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A849989E-102C-C78F-520A-242812BDD6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11EFDA2B-4A8F-6FB4-3FC5-89C502634F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72A69CC-9114-DB8A-F2AB-3262DA9D15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98078189-3C1D-7C71-2646-B036412408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72F19CD3-A08F-74CF-F26D-495065DD8B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8935A9B5-22D4-1891-B3DE-1F7A01D895D2}"/>
              </a:ext>
            </a:extLst>
          </p:cNvPr>
          <p:cNvSpPr txBox="1"/>
          <p:nvPr/>
        </p:nvSpPr>
        <p:spPr>
          <a:xfrm>
            <a:off x="1524000" y="-491840"/>
            <a:ext cx="7391400" cy="220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19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en-US" sz="1900" b="0" i="0" u="none" strike="noStrike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814380A-2F6D-7EC2-F25C-87B8609E5BA8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2A193B7-4D1B-E70F-A98B-65BCE03A2BAF}"/>
              </a:ext>
            </a:extLst>
          </p:cNvPr>
          <p:cNvSpPr txBox="1"/>
          <p:nvPr/>
        </p:nvSpPr>
        <p:spPr>
          <a:xfrm>
            <a:off x="1397569" y="2089340"/>
            <a:ext cx="318713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spc="-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개발 전략</a:t>
            </a:r>
            <a:endParaRPr lang="ko-KR" sz="5800" b="1" i="0" u="none" strike="noStrike" spc="-20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B68622F-1D38-26C1-F061-BFD58B242919}"/>
              </a:ext>
            </a:extLst>
          </p:cNvPr>
          <p:cNvSpPr txBox="1"/>
          <p:nvPr/>
        </p:nvSpPr>
        <p:spPr>
          <a:xfrm>
            <a:off x="1460499" y="3845020"/>
            <a:ext cx="7405113" cy="220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19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en-US" sz="1900" b="0" i="0" u="none" strike="noStrike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26" name="Picture 13">
            <a:extLst>
              <a:ext uri="{FF2B5EF4-FFF2-40B4-BE49-F238E27FC236}">
                <a16:creationId xmlns:a16="http://schemas.microsoft.com/office/drawing/2014/main" id="{BE8F8D65-FE16-EFD4-2248-6E94CA20775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3931933" y="4127500"/>
            <a:ext cx="6802492" cy="4962394"/>
          </a:xfrm>
          <a:prstGeom prst="rect">
            <a:avLst/>
          </a:prstGeom>
        </p:spPr>
      </p:pic>
      <p:pic>
        <p:nvPicPr>
          <p:cNvPr id="29" name="Picture 14">
            <a:extLst>
              <a:ext uri="{FF2B5EF4-FFF2-40B4-BE49-F238E27FC236}">
                <a16:creationId xmlns:a16="http://schemas.microsoft.com/office/drawing/2014/main" id="{6B6BF3AB-BE97-96DF-2AE1-CEB20D048A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57973" y="6587490"/>
            <a:ext cx="4902200" cy="45719"/>
          </a:xfrm>
          <a:prstGeom prst="rect">
            <a:avLst/>
          </a:prstGeom>
        </p:spPr>
      </p:pic>
      <p:pic>
        <p:nvPicPr>
          <p:cNvPr id="32" name="Picture 15">
            <a:extLst>
              <a:ext uri="{FF2B5EF4-FFF2-40B4-BE49-F238E27FC236}">
                <a16:creationId xmlns:a16="http://schemas.microsoft.com/office/drawing/2014/main" id="{DBB9DD45-C437-5EFD-0017-B49CFD3C00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894587" y="6587490"/>
            <a:ext cx="4902200" cy="45719"/>
          </a:xfrm>
          <a:prstGeom prst="rect">
            <a:avLst/>
          </a:prstGeom>
        </p:spPr>
      </p:pic>
      <p:pic>
        <p:nvPicPr>
          <p:cNvPr id="33" name="Picture 16">
            <a:extLst>
              <a:ext uri="{FF2B5EF4-FFF2-40B4-BE49-F238E27FC236}">
                <a16:creationId xmlns:a16="http://schemas.microsoft.com/office/drawing/2014/main" id="{6A07CB7D-13B6-E3A5-0BF5-691918E5BD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804517" y="6587490"/>
            <a:ext cx="4902200" cy="45719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FDC0AAB1-106E-5853-9DF4-C8C79BAAAA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200" y="4127500"/>
            <a:ext cx="17151362" cy="12700"/>
          </a:xfrm>
          <a:prstGeom prst="rect">
            <a:avLst/>
          </a:prstGeom>
        </p:spPr>
      </p:pic>
      <p:pic>
        <p:nvPicPr>
          <p:cNvPr id="36" name="Picture 24">
            <a:extLst>
              <a:ext uri="{FF2B5EF4-FFF2-40B4-BE49-F238E27FC236}">
                <a16:creationId xmlns:a16="http://schemas.microsoft.com/office/drawing/2014/main" id="{57052936-1299-2F47-9D85-BCDE5088A0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4013" y="3886200"/>
            <a:ext cx="521666" cy="520700"/>
          </a:xfrm>
          <a:prstGeom prst="rect">
            <a:avLst/>
          </a:prstGeom>
        </p:spPr>
      </p:pic>
      <p:sp>
        <p:nvSpPr>
          <p:cNvPr id="37" name="TextBox 25">
            <a:extLst>
              <a:ext uri="{FF2B5EF4-FFF2-40B4-BE49-F238E27FC236}">
                <a16:creationId xmlns:a16="http://schemas.microsoft.com/office/drawing/2014/main" id="{735DA066-5619-D47F-6AAE-B867387E52E5}"/>
              </a:ext>
            </a:extLst>
          </p:cNvPr>
          <p:cNvSpPr txBox="1"/>
          <p:nvPr/>
        </p:nvSpPr>
        <p:spPr>
          <a:xfrm>
            <a:off x="1979413" y="4025900"/>
            <a:ext cx="458048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 dirty="0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  <p:pic>
        <p:nvPicPr>
          <p:cNvPr id="38" name="Picture 26">
            <a:extLst>
              <a:ext uri="{FF2B5EF4-FFF2-40B4-BE49-F238E27FC236}">
                <a16:creationId xmlns:a16="http://schemas.microsoft.com/office/drawing/2014/main" id="{ACC3FAC8-FF4A-1A48-141A-20F41F7770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5908" y="3886200"/>
            <a:ext cx="521666" cy="520700"/>
          </a:xfrm>
          <a:prstGeom prst="rect">
            <a:avLst/>
          </a:prstGeom>
        </p:spPr>
      </p:pic>
      <p:sp>
        <p:nvSpPr>
          <p:cNvPr id="39" name="TextBox 27">
            <a:extLst>
              <a:ext uri="{FF2B5EF4-FFF2-40B4-BE49-F238E27FC236}">
                <a16:creationId xmlns:a16="http://schemas.microsoft.com/office/drawing/2014/main" id="{5EB00B62-BD69-3A7D-14B3-5E7499B7BAFB}"/>
              </a:ext>
            </a:extLst>
          </p:cNvPr>
          <p:cNvSpPr txBox="1"/>
          <p:nvPr/>
        </p:nvSpPr>
        <p:spPr>
          <a:xfrm>
            <a:off x="5404008" y="4025900"/>
            <a:ext cx="458048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Gmarket Sans Medium"/>
              </a:rPr>
              <a:t>2</a:t>
            </a:r>
          </a:p>
        </p:txBody>
      </p:sp>
      <p:pic>
        <p:nvPicPr>
          <p:cNvPr id="40" name="Picture 28">
            <a:extLst>
              <a:ext uri="{FF2B5EF4-FFF2-40B4-BE49-F238E27FC236}">
                <a16:creationId xmlns:a16="http://schemas.microsoft.com/office/drawing/2014/main" id="{3925B976-C9A4-4FC8-8C14-F97FDD5E41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43272" y="3886200"/>
            <a:ext cx="521666" cy="520700"/>
          </a:xfrm>
          <a:prstGeom prst="rect">
            <a:avLst/>
          </a:prstGeom>
        </p:spPr>
      </p:pic>
      <p:sp>
        <p:nvSpPr>
          <p:cNvPr id="41" name="TextBox 29">
            <a:extLst>
              <a:ext uri="{FF2B5EF4-FFF2-40B4-BE49-F238E27FC236}">
                <a16:creationId xmlns:a16="http://schemas.microsoft.com/office/drawing/2014/main" id="{834ADF0F-7A8E-FD7F-D9DC-DDCAB5799AD9}"/>
              </a:ext>
            </a:extLst>
          </p:cNvPr>
          <p:cNvSpPr txBox="1"/>
          <p:nvPr/>
        </p:nvSpPr>
        <p:spPr>
          <a:xfrm>
            <a:off x="8881372" y="4025900"/>
            <a:ext cx="458048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Gmarket Sans Medium"/>
              </a:rPr>
              <a:t>3</a:t>
            </a:r>
          </a:p>
        </p:txBody>
      </p:sp>
      <p:pic>
        <p:nvPicPr>
          <p:cNvPr id="42" name="Picture 30">
            <a:extLst>
              <a:ext uri="{FF2B5EF4-FFF2-40B4-BE49-F238E27FC236}">
                <a16:creationId xmlns:a16="http://schemas.microsoft.com/office/drawing/2014/main" id="{9136A171-6603-F044-E99C-920EFA073A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07034" y="3886200"/>
            <a:ext cx="521666" cy="520700"/>
          </a:xfrm>
          <a:prstGeom prst="rect">
            <a:avLst/>
          </a:prstGeom>
        </p:spPr>
      </p:pic>
      <p:sp>
        <p:nvSpPr>
          <p:cNvPr id="43" name="TextBox 31">
            <a:extLst>
              <a:ext uri="{FF2B5EF4-FFF2-40B4-BE49-F238E27FC236}">
                <a16:creationId xmlns:a16="http://schemas.microsoft.com/office/drawing/2014/main" id="{A51ECD38-AB0F-4DF7-5302-33D26BCE288B}"/>
              </a:ext>
            </a:extLst>
          </p:cNvPr>
          <p:cNvSpPr txBox="1"/>
          <p:nvPr/>
        </p:nvSpPr>
        <p:spPr>
          <a:xfrm>
            <a:off x="12245134" y="4025900"/>
            <a:ext cx="458048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Gmarket Sans Medium"/>
              </a:rPr>
              <a:t>4</a:t>
            </a:r>
          </a:p>
        </p:txBody>
      </p:sp>
      <p:pic>
        <p:nvPicPr>
          <p:cNvPr id="44" name="Picture 32">
            <a:extLst>
              <a:ext uri="{FF2B5EF4-FFF2-40B4-BE49-F238E27FC236}">
                <a16:creationId xmlns:a16="http://schemas.microsoft.com/office/drawing/2014/main" id="{85BFD70F-626E-FE86-A1E8-46786B7992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21812" y="3886200"/>
            <a:ext cx="521666" cy="520700"/>
          </a:xfrm>
          <a:prstGeom prst="rect">
            <a:avLst/>
          </a:prstGeom>
        </p:spPr>
      </p:pic>
      <p:sp>
        <p:nvSpPr>
          <p:cNvPr id="45" name="TextBox 33">
            <a:extLst>
              <a:ext uri="{FF2B5EF4-FFF2-40B4-BE49-F238E27FC236}">
                <a16:creationId xmlns:a16="http://schemas.microsoft.com/office/drawing/2014/main" id="{736F4C83-AD8B-A841-8BA1-32CDBD637454}"/>
              </a:ext>
            </a:extLst>
          </p:cNvPr>
          <p:cNvSpPr txBox="1"/>
          <p:nvPr/>
        </p:nvSpPr>
        <p:spPr>
          <a:xfrm>
            <a:off x="15747212" y="4025900"/>
            <a:ext cx="458048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 dirty="0">
                <a:solidFill>
                  <a:srgbClr val="000000"/>
                </a:solidFill>
                <a:latin typeface="Gmarket Sans Medium"/>
              </a:rPr>
              <a:t>5</a:t>
            </a:r>
          </a:p>
        </p:txBody>
      </p:sp>
      <p:sp>
        <p:nvSpPr>
          <p:cNvPr id="50" name="TextBox 38">
            <a:extLst>
              <a:ext uri="{FF2B5EF4-FFF2-40B4-BE49-F238E27FC236}">
                <a16:creationId xmlns:a16="http://schemas.microsoft.com/office/drawing/2014/main" id="{38658F57-07E8-180A-E58D-FBB7E5038A8F}"/>
              </a:ext>
            </a:extLst>
          </p:cNvPr>
          <p:cNvSpPr txBox="1"/>
          <p:nvPr/>
        </p:nvSpPr>
        <p:spPr>
          <a:xfrm>
            <a:off x="8435207" y="6617302"/>
            <a:ext cx="1195070" cy="4366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000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React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51" name="TextBox 39">
            <a:extLst>
              <a:ext uri="{FF2B5EF4-FFF2-40B4-BE49-F238E27FC236}">
                <a16:creationId xmlns:a16="http://schemas.microsoft.com/office/drawing/2014/main" id="{898211A8-A833-E93B-76DA-31C7C8E1ED39}"/>
              </a:ext>
            </a:extLst>
          </p:cNvPr>
          <p:cNvSpPr txBox="1"/>
          <p:nvPr/>
        </p:nvSpPr>
        <p:spPr>
          <a:xfrm>
            <a:off x="1162627" y="6617302"/>
            <a:ext cx="2081464" cy="4361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000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Android Studio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54" name="TextBox 42">
            <a:extLst>
              <a:ext uri="{FF2B5EF4-FFF2-40B4-BE49-F238E27FC236}">
                <a16:creationId xmlns:a16="http://schemas.microsoft.com/office/drawing/2014/main" id="{2365A200-1716-0F9D-793E-3E058DE8796E}"/>
              </a:ext>
            </a:extLst>
          </p:cNvPr>
          <p:cNvSpPr txBox="1"/>
          <p:nvPr/>
        </p:nvSpPr>
        <p:spPr>
          <a:xfrm>
            <a:off x="7660538" y="7255609"/>
            <a:ext cx="2747397" cy="16142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altLang="ko-Kore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UI 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디자인을 위한 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JavaScript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기반 라이브러리</a:t>
            </a:r>
            <a:endParaRPr lang="ko-Kore-KR" altLang="en-US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55" name="TextBox 43">
            <a:extLst>
              <a:ext uri="{FF2B5EF4-FFF2-40B4-BE49-F238E27FC236}">
                <a16:creationId xmlns:a16="http://schemas.microsoft.com/office/drawing/2014/main" id="{9342EF77-19E9-B539-D016-E9DDA71B9D6B}"/>
              </a:ext>
            </a:extLst>
          </p:cNvPr>
          <p:cNvSpPr txBox="1"/>
          <p:nvPr/>
        </p:nvSpPr>
        <p:spPr>
          <a:xfrm>
            <a:off x="854486" y="7255609"/>
            <a:ext cx="2705100" cy="104403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동영상 촬영 목적</a:t>
            </a:r>
            <a:endParaRPr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>
              <a:lnSpc>
                <a:spcPct val="150000"/>
              </a:lnSpc>
            </a:pPr>
            <a:r>
              <a:rPr lang="en-US" altLang="ko-Kore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Android App 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개발</a:t>
            </a:r>
            <a:endParaRPr lang="ko-Kore-KR" altLang="en-US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1026" name="Picture 2" descr="리액트 네이티브 - 위키백과, 우리 모두의 백과사전">
            <a:extLst>
              <a:ext uri="{FF2B5EF4-FFF2-40B4-BE49-F238E27FC236}">
                <a16:creationId xmlns:a16="http://schemas.microsoft.com/office/drawing/2014/main" id="{AE9510ED-ED2C-1163-D627-B4CA31986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556" y="4719739"/>
            <a:ext cx="1493967" cy="132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Android Studio 설치, SDK 기본 설정">
            <a:extLst>
              <a:ext uri="{FF2B5EF4-FFF2-40B4-BE49-F238E27FC236}">
                <a16:creationId xmlns:a16="http://schemas.microsoft.com/office/drawing/2014/main" id="{8CCF20E1-CD60-3BDD-1719-21CFA5B5B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664" y="4541932"/>
            <a:ext cx="167951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Fmpeg 분석 (1) - 이해">
            <a:extLst>
              <a:ext uri="{FF2B5EF4-FFF2-40B4-BE49-F238E27FC236}">
                <a16:creationId xmlns:a16="http://schemas.microsoft.com/office/drawing/2014/main" id="{FB34032D-E9B9-5EBA-88A3-C8CAC3E8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413" y="4493561"/>
            <a:ext cx="2643188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6">
            <a:extLst>
              <a:ext uri="{FF2B5EF4-FFF2-40B4-BE49-F238E27FC236}">
                <a16:creationId xmlns:a16="http://schemas.microsoft.com/office/drawing/2014/main" id="{F2918120-BC71-7C49-1935-E2885D16B6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294761" y="6595512"/>
            <a:ext cx="4902200" cy="45719"/>
          </a:xfrm>
          <a:prstGeom prst="rect">
            <a:avLst/>
          </a:prstGeom>
        </p:spPr>
      </p:pic>
      <p:sp>
        <p:nvSpPr>
          <p:cNvPr id="22" name="TextBox 38">
            <a:extLst>
              <a:ext uri="{FF2B5EF4-FFF2-40B4-BE49-F238E27FC236}">
                <a16:creationId xmlns:a16="http://schemas.microsoft.com/office/drawing/2014/main" id="{0DEBD52D-AB56-698A-4DFB-D1F36C2DD86C}"/>
              </a:ext>
            </a:extLst>
          </p:cNvPr>
          <p:cNvSpPr txBox="1"/>
          <p:nvPr/>
        </p:nvSpPr>
        <p:spPr>
          <a:xfrm>
            <a:off x="4984025" y="6617302"/>
            <a:ext cx="1195070" cy="49719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000" b="0" i="0" u="none" strike="noStrike" spc="-100" dirty="0" err="1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FFmpeg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6198408B-CC06-8971-DB90-F6C9287F3428}"/>
              </a:ext>
            </a:extLst>
          </p:cNvPr>
          <p:cNvSpPr txBox="1"/>
          <p:nvPr/>
        </p:nvSpPr>
        <p:spPr>
          <a:xfrm>
            <a:off x="4211337" y="7255609"/>
            <a:ext cx="2814875" cy="16142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프레임 추출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인코딩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디코딩을 위한 </a:t>
            </a:r>
            <a:endParaRPr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미디어 처리 라이브러리</a:t>
            </a:r>
            <a:endParaRPr lang="ko-Kore-KR" altLang="en-US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0C9A7446-A8BB-A9E4-A715-CFF0E4938858}"/>
              </a:ext>
            </a:extLst>
          </p:cNvPr>
          <p:cNvSpPr txBox="1"/>
          <p:nvPr/>
        </p:nvSpPr>
        <p:spPr>
          <a:xfrm>
            <a:off x="11848343" y="6617302"/>
            <a:ext cx="1195070" cy="4366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000" b="0" i="0" u="none" strike="noStrike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Fast API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7" name="TextBox 42">
            <a:extLst>
              <a:ext uri="{FF2B5EF4-FFF2-40B4-BE49-F238E27FC236}">
                <a16:creationId xmlns:a16="http://schemas.microsoft.com/office/drawing/2014/main" id="{CC1168F1-186F-869B-E57B-D958654A197E}"/>
              </a:ext>
            </a:extLst>
          </p:cNvPr>
          <p:cNvSpPr txBox="1"/>
          <p:nvPr/>
        </p:nvSpPr>
        <p:spPr>
          <a:xfrm>
            <a:off x="11073674" y="7255609"/>
            <a:ext cx="2747397" cy="16142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영상 동기화</a:t>
            </a:r>
            <a:b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</a:b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및 편집 시스템의</a:t>
            </a:r>
            <a:b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</a:br>
            <a:r>
              <a:rPr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백엔드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서버 </a:t>
            </a:r>
            <a:endParaRPr lang="ko-Kore-KR" altLang="en-US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0" name="TextBox 38">
            <a:extLst>
              <a:ext uri="{FF2B5EF4-FFF2-40B4-BE49-F238E27FC236}">
                <a16:creationId xmlns:a16="http://schemas.microsoft.com/office/drawing/2014/main" id="{E3C64D8E-DD72-8955-02DD-3B7B5F1C624F}"/>
              </a:ext>
            </a:extLst>
          </p:cNvPr>
          <p:cNvSpPr txBox="1"/>
          <p:nvPr/>
        </p:nvSpPr>
        <p:spPr>
          <a:xfrm>
            <a:off x="15351997" y="6617302"/>
            <a:ext cx="1195070" cy="43663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000" b="0" i="0" u="none" strike="noStrike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AWS 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1" name="TextBox 42">
            <a:extLst>
              <a:ext uri="{FF2B5EF4-FFF2-40B4-BE49-F238E27FC236}">
                <a16:creationId xmlns:a16="http://schemas.microsoft.com/office/drawing/2014/main" id="{9E9D8182-C875-602C-F433-EF515C81C2E8}"/>
              </a:ext>
            </a:extLst>
          </p:cNvPr>
          <p:cNvSpPr txBox="1"/>
          <p:nvPr/>
        </p:nvSpPr>
        <p:spPr>
          <a:xfrm>
            <a:off x="14577328" y="7255609"/>
            <a:ext cx="2747397" cy="16142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EC2, 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스토리지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DBMS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등 편의성을 위한</a:t>
            </a:r>
            <a:endParaRPr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클라우드 서비스</a:t>
            </a:r>
            <a:endParaRPr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1030" name="Picture 6" descr="아마존 웹 서비스 - 위키백과, 우리 모두의 백과사전">
            <a:extLst>
              <a:ext uri="{FF2B5EF4-FFF2-40B4-BE49-F238E27FC236}">
                <a16:creationId xmlns:a16="http://schemas.microsoft.com/office/drawing/2014/main" id="{C3B6C564-535A-E778-90E9-E755B9175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1769" y="4949920"/>
            <a:ext cx="1861751" cy="111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astAPI 파이썬으로 간단하게 웹 API 만들기">
            <a:extLst>
              <a:ext uri="{FF2B5EF4-FFF2-40B4-BE49-F238E27FC236}">
                <a16:creationId xmlns:a16="http://schemas.microsoft.com/office/drawing/2014/main" id="{C457CBDF-C4B8-A621-79A3-8CF0BFDC2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031" y="4687811"/>
            <a:ext cx="3343144" cy="120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741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B939-E7BA-60E9-783C-235C5E53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8A1F2E1-7F97-8C46-9B8A-EEC4B43C9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43" y="885157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43C2E9D-548A-720B-1E54-A9D641E13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FEDF9376-C267-4A43-C6A2-034B9B5E1855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B855BF6-3C0D-2406-890A-55EB480F5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11D1EE0-54B7-32AB-D91E-B90B4A56DBAF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0</a:t>
            </a:r>
            <a:r>
              <a:rPr lang="en-US" altLang="ko-KR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9</a:t>
            </a:r>
            <a:endParaRPr lang="en-US" sz="1200" b="0" i="0" u="none" strike="noStrike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A5E0F26-8BB9-960B-0E5E-CB63DC802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C54F955-2C89-8E37-0288-9E0E46483F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0AC879D2-B83E-5288-9633-88D095368A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18246DAC-5FA7-C1AF-D515-C38128102B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D39667BA-54F3-FEDC-1E23-44DAFC11F4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C1F886CF-63C2-56F8-1F88-A8D01BCB5FEA}"/>
              </a:ext>
            </a:extLst>
          </p:cNvPr>
          <p:cNvSpPr txBox="1"/>
          <p:nvPr/>
        </p:nvSpPr>
        <p:spPr>
          <a:xfrm>
            <a:off x="1460500" y="3845020"/>
            <a:ext cx="7391400" cy="220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19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en-US" sz="1900" b="0" i="0" u="none" strike="noStrike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7E9640E-3118-0EF6-944A-BA4398728510}"/>
              </a:ext>
            </a:extLst>
          </p:cNvPr>
          <p:cNvSpPr txBox="1"/>
          <p:nvPr/>
        </p:nvSpPr>
        <p:spPr>
          <a:xfrm>
            <a:off x="1460500" y="3118040"/>
            <a:ext cx="557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endParaRPr lang="en-US" sz="2400" b="0" i="0" u="none" strike="noStrike" spc="-10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863A0B8-63F5-0D37-3179-38535DC243D5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A534F2B-A8A8-3C84-2943-6C580246DCA7}"/>
              </a:ext>
            </a:extLst>
          </p:cNvPr>
          <p:cNvSpPr txBox="1"/>
          <p:nvPr/>
        </p:nvSpPr>
        <p:spPr>
          <a:xfrm>
            <a:off x="1397569" y="2089340"/>
            <a:ext cx="318713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i="0" u="none" strike="noStrike" spc="-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개발 목표</a:t>
            </a:r>
            <a:endParaRPr lang="ko-KR" sz="5800" b="1" i="0" u="none" strike="noStrike" spc="-20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B7DFABAF-AC14-F377-FE73-9966ED8E199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9141772" y="4140200"/>
            <a:ext cx="8536628" cy="4902200"/>
          </a:xfrm>
          <a:prstGeom prst="rect">
            <a:avLst/>
          </a:prstGeom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1763292E-2EDC-120C-4405-312E3E9D57A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583858" y="4140200"/>
            <a:ext cx="8542658" cy="4902200"/>
          </a:xfrm>
          <a:prstGeom prst="rect">
            <a:avLst/>
          </a:prstGeom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17EF93CA-2886-ECFB-E0AA-B9396A58EA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490918" y="6604000"/>
            <a:ext cx="4902200" cy="12700"/>
          </a:xfrm>
          <a:prstGeom prst="rect">
            <a:avLst/>
          </a:prstGeom>
        </p:spPr>
      </p:pic>
      <p:pic>
        <p:nvPicPr>
          <p:cNvPr id="20" name="Picture 15">
            <a:extLst>
              <a:ext uri="{FF2B5EF4-FFF2-40B4-BE49-F238E27FC236}">
                <a16:creationId xmlns:a16="http://schemas.microsoft.com/office/drawing/2014/main" id="{40D74735-10C5-05CA-BF95-A46E9D0386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6684322" y="6604000"/>
            <a:ext cx="4902200" cy="12700"/>
          </a:xfrm>
          <a:prstGeom prst="rect">
            <a:avLst/>
          </a:prstGeom>
        </p:spPr>
      </p:pic>
      <p:pic>
        <p:nvPicPr>
          <p:cNvPr id="21" name="Picture 16">
            <a:extLst>
              <a:ext uri="{FF2B5EF4-FFF2-40B4-BE49-F238E27FC236}">
                <a16:creationId xmlns:a16="http://schemas.microsoft.com/office/drawing/2014/main" id="{216D50C1-4862-A5EF-E346-542753648F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1063086" y="6604000"/>
            <a:ext cx="4902200" cy="12700"/>
          </a:xfrm>
          <a:prstGeom prst="rect">
            <a:avLst/>
          </a:prstGeom>
        </p:spPr>
      </p:pic>
      <p:pic>
        <p:nvPicPr>
          <p:cNvPr id="22" name="Picture 17">
            <a:extLst>
              <a:ext uri="{FF2B5EF4-FFF2-40B4-BE49-F238E27FC236}">
                <a16:creationId xmlns:a16="http://schemas.microsoft.com/office/drawing/2014/main" id="{692E7070-759A-4A1C-EF4D-5169EFBEBF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200" y="4127500"/>
            <a:ext cx="17119600" cy="12700"/>
          </a:xfrm>
          <a:prstGeom prst="rect">
            <a:avLst/>
          </a:prstGeom>
        </p:spPr>
      </p:pic>
      <p:pic>
        <p:nvPicPr>
          <p:cNvPr id="29" name="Picture 24">
            <a:extLst>
              <a:ext uri="{FF2B5EF4-FFF2-40B4-BE49-F238E27FC236}">
                <a16:creationId xmlns:a16="http://schemas.microsoft.com/office/drawing/2014/main" id="{5BDA9596-A246-B028-6722-3E35C9E50B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6431" y="3886200"/>
            <a:ext cx="520700" cy="520700"/>
          </a:xfrm>
          <a:prstGeom prst="rect">
            <a:avLst/>
          </a:prstGeom>
        </p:spPr>
      </p:pic>
      <p:sp>
        <p:nvSpPr>
          <p:cNvPr id="30" name="TextBox 25">
            <a:extLst>
              <a:ext uri="{FF2B5EF4-FFF2-40B4-BE49-F238E27FC236}">
                <a16:creationId xmlns:a16="http://schemas.microsoft.com/office/drawing/2014/main" id="{E4E74DC6-0FC1-8F75-E144-655DE96E1688}"/>
              </a:ext>
            </a:extLst>
          </p:cNvPr>
          <p:cNvSpPr txBox="1"/>
          <p:nvPr/>
        </p:nvSpPr>
        <p:spPr>
          <a:xfrm>
            <a:off x="2591831" y="4025900"/>
            <a:ext cx="457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Gmarket Sans Medium"/>
              </a:rPr>
              <a:t>1</a:t>
            </a:r>
          </a:p>
        </p:txBody>
      </p:sp>
      <p:pic>
        <p:nvPicPr>
          <p:cNvPr id="31" name="Picture 26">
            <a:extLst>
              <a:ext uri="{FF2B5EF4-FFF2-40B4-BE49-F238E27FC236}">
                <a16:creationId xmlns:a16="http://schemas.microsoft.com/office/drawing/2014/main" id="{BA701082-B975-77D8-76FF-60340F19C8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549" y="3886200"/>
            <a:ext cx="520700" cy="520700"/>
          </a:xfrm>
          <a:prstGeom prst="rect">
            <a:avLst/>
          </a:prstGeom>
        </p:spPr>
      </p:pic>
      <p:sp>
        <p:nvSpPr>
          <p:cNvPr id="32" name="TextBox 27">
            <a:extLst>
              <a:ext uri="{FF2B5EF4-FFF2-40B4-BE49-F238E27FC236}">
                <a16:creationId xmlns:a16="http://schemas.microsoft.com/office/drawing/2014/main" id="{8799F4A3-32AC-6250-13FF-07815652BE3E}"/>
              </a:ext>
            </a:extLst>
          </p:cNvPr>
          <p:cNvSpPr txBox="1"/>
          <p:nvPr/>
        </p:nvSpPr>
        <p:spPr>
          <a:xfrm>
            <a:off x="6822649" y="4025900"/>
            <a:ext cx="457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Gmarket Sans Medium"/>
              </a:rPr>
              <a:t>2</a:t>
            </a:r>
          </a:p>
        </p:txBody>
      </p:sp>
      <p:pic>
        <p:nvPicPr>
          <p:cNvPr id="33" name="Picture 28">
            <a:extLst>
              <a:ext uri="{FF2B5EF4-FFF2-40B4-BE49-F238E27FC236}">
                <a16:creationId xmlns:a16="http://schemas.microsoft.com/office/drawing/2014/main" id="{C848584B-70B8-4A13-4FC4-32D5574B754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89166" y="3886200"/>
            <a:ext cx="520700" cy="520700"/>
          </a:xfrm>
          <a:prstGeom prst="rect">
            <a:avLst/>
          </a:prstGeom>
        </p:spPr>
      </p:pic>
      <p:sp>
        <p:nvSpPr>
          <p:cNvPr id="34" name="TextBox 29">
            <a:extLst>
              <a:ext uri="{FF2B5EF4-FFF2-40B4-BE49-F238E27FC236}">
                <a16:creationId xmlns:a16="http://schemas.microsoft.com/office/drawing/2014/main" id="{51767533-CCC5-8472-BB2E-E1277EE39BB3}"/>
              </a:ext>
            </a:extLst>
          </p:cNvPr>
          <p:cNvSpPr txBox="1"/>
          <p:nvPr/>
        </p:nvSpPr>
        <p:spPr>
          <a:xfrm>
            <a:off x="11127266" y="4025900"/>
            <a:ext cx="457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Gmarket Sans Medium"/>
              </a:rPr>
              <a:t>3</a:t>
            </a:r>
          </a:p>
        </p:txBody>
      </p:sp>
      <p:pic>
        <p:nvPicPr>
          <p:cNvPr id="35" name="Picture 30">
            <a:extLst>
              <a:ext uri="{FF2B5EF4-FFF2-40B4-BE49-F238E27FC236}">
                <a16:creationId xmlns:a16="http://schemas.microsoft.com/office/drawing/2014/main" id="{972681E5-4A46-5439-D15B-9173407B27E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93789" y="3886200"/>
            <a:ext cx="520700" cy="520700"/>
          </a:xfrm>
          <a:prstGeom prst="rect">
            <a:avLst/>
          </a:prstGeom>
        </p:spPr>
      </p:pic>
      <p:sp>
        <p:nvSpPr>
          <p:cNvPr id="36" name="TextBox 31">
            <a:extLst>
              <a:ext uri="{FF2B5EF4-FFF2-40B4-BE49-F238E27FC236}">
                <a16:creationId xmlns:a16="http://schemas.microsoft.com/office/drawing/2014/main" id="{F9D66358-3423-4053-82D2-6F8490EF9A96}"/>
              </a:ext>
            </a:extLst>
          </p:cNvPr>
          <p:cNvSpPr txBox="1"/>
          <p:nvPr/>
        </p:nvSpPr>
        <p:spPr>
          <a:xfrm>
            <a:off x="15431889" y="4025900"/>
            <a:ext cx="457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Gmarket Sans Medium"/>
              </a:rPr>
              <a:t>4</a:t>
            </a: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5B038F4D-837C-D2BB-70D4-1C47C5B01A1F}"/>
              </a:ext>
            </a:extLst>
          </p:cNvPr>
          <p:cNvSpPr txBox="1"/>
          <p:nvPr/>
        </p:nvSpPr>
        <p:spPr>
          <a:xfrm>
            <a:off x="1194831" y="6578600"/>
            <a:ext cx="32639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동기화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5">
                <a:extLst>
                  <a:ext uri="{FF2B5EF4-FFF2-40B4-BE49-F238E27FC236}">
                    <a16:creationId xmlns:a16="http://schemas.microsoft.com/office/drawing/2014/main" id="{98DF2E76-D511-30FD-3536-8FB74C426731}"/>
                  </a:ext>
                </a:extLst>
              </p:cNvPr>
              <p:cNvSpPr txBox="1"/>
              <p:nvPr/>
            </p:nvSpPr>
            <p:spPr>
              <a:xfrm>
                <a:off x="1372631" y="7277100"/>
                <a:ext cx="2895600" cy="749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ko-Kore-KR" altLang="en-US" sz="200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≤</m:t>
                    </m:r>
                  </m:oMath>
                </a14:m>
                <a:r>
                  <a:rPr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100ms</a:t>
                </a:r>
                <a:endParaRPr lang="en-US" altLang="ko-Kore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40" name="TextBox 35">
                <a:extLst>
                  <a:ext uri="{FF2B5EF4-FFF2-40B4-BE49-F238E27FC236}">
                    <a16:creationId xmlns:a16="http://schemas.microsoft.com/office/drawing/2014/main" id="{98DF2E76-D511-30FD-3536-8FB74C426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31" y="7277100"/>
                <a:ext cx="2895600" cy="749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36">
            <a:extLst>
              <a:ext uri="{FF2B5EF4-FFF2-40B4-BE49-F238E27FC236}">
                <a16:creationId xmlns:a16="http://schemas.microsoft.com/office/drawing/2014/main" id="{11B5A484-CE06-1335-9D77-5DCD2F51E2D6}"/>
              </a:ext>
            </a:extLst>
          </p:cNvPr>
          <p:cNvSpPr txBox="1"/>
          <p:nvPr/>
        </p:nvSpPr>
        <p:spPr>
          <a:xfrm>
            <a:off x="5412949" y="6578600"/>
            <a:ext cx="32639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영상 생성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42" name="TextBox 37">
            <a:extLst>
              <a:ext uri="{FF2B5EF4-FFF2-40B4-BE49-F238E27FC236}">
                <a16:creationId xmlns:a16="http://schemas.microsoft.com/office/drawing/2014/main" id="{175F59BC-AD44-E01A-9F11-6F5E33B928D5}"/>
              </a:ext>
            </a:extLst>
          </p:cNvPr>
          <p:cNvSpPr txBox="1"/>
          <p:nvPr/>
        </p:nvSpPr>
        <p:spPr>
          <a:xfrm>
            <a:off x="9730266" y="6578600"/>
            <a:ext cx="32639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트랜스코딩 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43" name="TextBox 38">
            <a:extLst>
              <a:ext uri="{FF2B5EF4-FFF2-40B4-BE49-F238E27FC236}">
                <a16:creationId xmlns:a16="http://schemas.microsoft.com/office/drawing/2014/main" id="{EFBED3EA-170D-BDDC-0656-B8C39F2F9E0D}"/>
              </a:ext>
            </a:extLst>
          </p:cNvPr>
          <p:cNvSpPr txBox="1"/>
          <p:nvPr/>
        </p:nvSpPr>
        <p:spPr>
          <a:xfrm>
            <a:off x="14034889" y="6578600"/>
            <a:ext cx="32639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000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API</a:t>
            </a:r>
            <a:r>
              <a:rPr lang="ko-KR" altLang="en-US" sz="2000" spc="-100" dirty="0">
                <a:solidFill>
                  <a:srgbClr val="00000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응답 시간</a:t>
            </a:r>
            <a:endParaRPr lang="ko-KR" sz="2000" b="0" i="0" u="none" strike="noStrike" spc="-100" dirty="0">
              <a:solidFill>
                <a:srgbClr val="0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0">
                <a:extLst>
                  <a:ext uri="{FF2B5EF4-FFF2-40B4-BE49-F238E27FC236}">
                    <a16:creationId xmlns:a16="http://schemas.microsoft.com/office/drawing/2014/main" id="{577AC10C-6AB2-33A8-1AA7-1031A23D8646}"/>
                  </a:ext>
                </a:extLst>
              </p:cNvPr>
              <p:cNvSpPr txBox="1"/>
              <p:nvPr/>
            </p:nvSpPr>
            <p:spPr>
              <a:xfrm>
                <a:off x="5603449" y="7277100"/>
                <a:ext cx="2895600" cy="749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ct val="149400"/>
                  </a:lnSpc>
                </a:pPr>
                <a14:m>
                  <m:oMath xmlns:m="http://schemas.openxmlformats.org/officeDocument/2006/math">
                    <m:r>
                      <a:rPr lang="en-US" altLang="ko-Kore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5m</a:t>
                </a:r>
                <a:endParaRPr lang="en-US" altLang="ko-Kore-KR" sz="2000" b="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45" name="TextBox 40">
                <a:extLst>
                  <a:ext uri="{FF2B5EF4-FFF2-40B4-BE49-F238E27FC236}">
                    <a16:creationId xmlns:a16="http://schemas.microsoft.com/office/drawing/2014/main" id="{577AC10C-6AB2-33A8-1AA7-1031A23D8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449" y="7277100"/>
                <a:ext cx="2895600" cy="7493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1">
                <a:extLst>
                  <a:ext uri="{FF2B5EF4-FFF2-40B4-BE49-F238E27FC236}">
                    <a16:creationId xmlns:a16="http://schemas.microsoft.com/office/drawing/2014/main" id="{CE3A00A7-4955-97A0-1BFE-56ED26F052B3}"/>
                  </a:ext>
                </a:extLst>
              </p:cNvPr>
              <p:cNvSpPr txBox="1"/>
              <p:nvPr/>
            </p:nvSpPr>
            <p:spPr>
              <a:xfrm>
                <a:off x="9908066" y="7277100"/>
                <a:ext cx="2895600" cy="749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≤</m:t>
                    </m:r>
                  </m:oMath>
                </a14:m>
                <a:r>
                  <a:rPr lang="ko-KR" altLang="en-US" sz="2000" b="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5m</a:t>
                </a:r>
                <a:endParaRPr lang="en-US" altLang="ko-KR" sz="2000" b="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46" name="TextBox 41">
                <a:extLst>
                  <a:ext uri="{FF2B5EF4-FFF2-40B4-BE49-F238E27FC236}">
                    <a16:creationId xmlns:a16="http://schemas.microsoft.com/office/drawing/2014/main" id="{CE3A00A7-4955-97A0-1BFE-56ED26F05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066" y="7277100"/>
                <a:ext cx="2895600" cy="7493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2">
                <a:extLst>
                  <a:ext uri="{FF2B5EF4-FFF2-40B4-BE49-F238E27FC236}">
                    <a16:creationId xmlns:a16="http://schemas.microsoft.com/office/drawing/2014/main" id="{29DC4D53-F130-A243-6AE3-A32700686749}"/>
                  </a:ext>
                </a:extLst>
              </p:cNvPr>
              <p:cNvSpPr txBox="1"/>
              <p:nvPr/>
            </p:nvSpPr>
            <p:spPr>
              <a:xfrm>
                <a:off x="14212689" y="7277100"/>
                <a:ext cx="2895600" cy="749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≤</m:t>
                    </m:r>
                  </m:oMath>
                </a14:m>
                <a:r>
                  <a:rPr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100ms</a:t>
                </a:r>
                <a:endParaRPr lang="ko-Kore-KR" altLang="en-US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47" name="TextBox 42">
                <a:extLst>
                  <a:ext uri="{FF2B5EF4-FFF2-40B4-BE49-F238E27FC236}">
                    <a16:creationId xmlns:a16="http://schemas.microsoft.com/office/drawing/2014/main" id="{29DC4D53-F130-A243-6AE3-A32700686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2689" y="7277100"/>
                <a:ext cx="2895600" cy="7493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그림 18">
            <a:extLst>
              <a:ext uri="{FF2B5EF4-FFF2-40B4-BE49-F238E27FC236}">
                <a16:creationId xmlns:a16="http://schemas.microsoft.com/office/drawing/2014/main" id="{37F7AE5C-8B22-2E9D-0BEE-693096BADF4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63231" y="5181600"/>
            <a:ext cx="952500" cy="952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CE8026-93BF-E428-E1F7-28DC60C3C534}"/>
              </a:ext>
            </a:extLst>
          </p:cNvPr>
          <p:cNvSpPr txBox="1"/>
          <p:nvPr/>
        </p:nvSpPr>
        <p:spPr>
          <a:xfrm>
            <a:off x="5387550" y="8704208"/>
            <a:ext cx="334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(5</a:t>
            </a:r>
            <a:r>
              <a:rPr kumimoji="1"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분 영상 기준</a:t>
            </a:r>
            <a:r>
              <a:rPr kumimoji="1"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  <a:endParaRPr kumimoji="1" lang="ko-Kore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7787F7-8CC2-C574-97A7-E40E90C98F30}"/>
              </a:ext>
            </a:extLst>
          </p:cNvPr>
          <p:cNvSpPr txBox="1"/>
          <p:nvPr/>
        </p:nvSpPr>
        <p:spPr>
          <a:xfrm>
            <a:off x="9666766" y="8704208"/>
            <a:ext cx="3346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(40</a:t>
            </a:r>
            <a:r>
              <a:rPr kumimoji="1"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분 영상 기준</a:t>
            </a:r>
            <a:r>
              <a:rPr kumimoji="1"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  <a:endParaRPr kumimoji="1" lang="ko-Kore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81BAD226-BCAF-9CE4-D308-6D45FEBDE03F}"/>
              </a:ext>
            </a:extLst>
          </p:cNvPr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15178939" y="5146650"/>
            <a:ext cx="950400" cy="9504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C92807D1-B7E5-8300-4869-7E97713269C8}"/>
              </a:ext>
            </a:extLst>
          </p:cNvPr>
          <p:cNvPicPr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6560323" y="5146733"/>
            <a:ext cx="950400" cy="9504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129E0ED-F540-AF72-546D-8BA6DE9320C2}"/>
              </a:ext>
            </a:extLst>
          </p:cNvPr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10864790" y="5183700"/>
            <a:ext cx="950400" cy="9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5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895C-B7EF-A778-EEF6-97CAEAC9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99655A2-D81B-DF1E-9F28-9C3820D6D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B5F8074-F3C9-DF57-8911-B80E19C6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D50DA1D2-0159-0549-1734-C72FDB838C62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0784384-11BB-F5B2-1148-098727056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E7E18E6-6438-65B2-C826-F879F0E656B5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10</a:t>
            </a:r>
            <a:endParaRPr lang="en-US" sz="1200" b="0" i="0" u="none" strike="noStrike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DE94C6C6-7AB2-9F20-DD62-E6879844D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A04C840-C53A-C15D-1E51-90C3CCCA5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11866ED-D386-A101-5C37-2315E9C882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4691E2B-8290-7F40-CAB9-9E0ED571B4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89BAF56F-C489-2E1F-28FF-857865732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4D79EB46-7DBF-A75B-1B3C-423489116D5D}"/>
              </a:ext>
            </a:extLst>
          </p:cNvPr>
          <p:cNvSpPr txBox="1"/>
          <p:nvPr/>
        </p:nvSpPr>
        <p:spPr>
          <a:xfrm>
            <a:off x="1460500" y="3845020"/>
            <a:ext cx="7391400" cy="220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32800"/>
              </a:lnSpc>
            </a:pPr>
            <a:r>
              <a:rPr lang="ko-KR" altLang="en-US" sz="19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endParaRPr lang="en-US" sz="1900" b="0" i="0" u="none" strike="noStrike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466D4E4-13A4-3B62-E976-A068F45D012E}"/>
              </a:ext>
            </a:extLst>
          </p:cNvPr>
          <p:cNvSpPr txBox="1"/>
          <p:nvPr/>
        </p:nvSpPr>
        <p:spPr>
          <a:xfrm>
            <a:off x="1460500" y="3118040"/>
            <a:ext cx="55753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endParaRPr lang="en-US" sz="2400" b="0" i="0" u="none" strike="noStrike" spc="-10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BC2C281-61A5-C300-C5C3-6AC2EEA4ADD2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5C5DFA7-4E5F-ECE0-C5BD-F533645A0EF3}"/>
              </a:ext>
            </a:extLst>
          </p:cNvPr>
          <p:cNvSpPr txBox="1"/>
          <p:nvPr/>
        </p:nvSpPr>
        <p:spPr>
          <a:xfrm>
            <a:off x="1397569" y="2089340"/>
            <a:ext cx="14690928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spc="-20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시스템 설계</a:t>
            </a:r>
            <a:endParaRPr lang="ko-KR" sz="5800" b="1" i="0" u="none" strike="noStrike" spc="-20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24" name="그림 23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5652EE-1B5A-240C-832E-8BD9FFF642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316168"/>
            <a:ext cx="16014700" cy="54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974A-AF91-4B4D-3D73-ED85A719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8D8318F-2607-5391-0745-9EA267193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5083A41-4E6A-AF81-3985-440078D7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10873A24-50BC-594C-FBC3-6E3C8C446B92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8BBEC9C-FD52-2275-81E4-ABB290B06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68EF5F6-9A77-3753-077E-5C21B812656A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1</a:t>
            </a:r>
            <a:r>
              <a:rPr lang="en-US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1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C05DE635-7BB5-B062-5CA5-4B5384DCF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3069C419-8D28-499F-5529-C1D4EAC57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3947864-76D6-F3EF-908F-DB68FF071F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F8E218F3-282A-5F09-67DE-C36A72428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62693476-6C50-2D21-6E22-CA6A4821E2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91088EE4-3511-FD87-D44B-8722061B88D6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21E3D81-F938-54B2-3879-2CD5EB21F284}"/>
              </a:ext>
            </a:extLst>
          </p:cNvPr>
          <p:cNvSpPr txBox="1"/>
          <p:nvPr/>
        </p:nvSpPr>
        <p:spPr>
          <a:xfrm>
            <a:off x="1397569" y="2089340"/>
            <a:ext cx="14690928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i="0" u="none" strike="noStrike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시나리오 </a:t>
            </a:r>
            <a:endParaRPr lang="ko-KR" sz="5800" b="1" i="0" u="none" strike="noStrike" spc="-200" dirty="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2553ADF7-AE18-F385-8644-DC19DCBBCE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4353" y="2089340"/>
            <a:ext cx="11678397" cy="647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9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30D7-DC7C-5CD7-94F2-154AD1E6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C41746B-0BDD-608A-ADF4-A12B8A37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314F8A3-1C8B-17AF-CB8D-43D4AB55B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DD68439-DAA3-4E96-7D47-EEE62F754017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6C5591E-F299-D375-1E38-7A985A23B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682C4FD-D417-F038-5F7A-D1F93BCA1412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12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BDA805F5-153C-4D9B-EECB-78EC66CC5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DE2DE01-8656-F561-E765-B85818752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F5E944A-FEEF-AEEF-C241-91607F58FB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A75BB39D-3A4D-C568-06CB-BC56B7675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7F4BD6EF-BCF3-C38C-33B5-4B886F4684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D6EEF067-9460-8143-A2DF-00242D605026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ECA86A-E020-0BBF-1AAE-32CA0CADC1EE}"/>
              </a:ext>
            </a:extLst>
          </p:cNvPr>
          <p:cNvSpPr txBox="1"/>
          <p:nvPr/>
        </p:nvSpPr>
        <p:spPr>
          <a:xfrm>
            <a:off x="1397569" y="2089340"/>
            <a:ext cx="14690928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예상 산출물</a:t>
            </a:r>
            <a:endParaRPr lang="ko-KR" sz="5800" b="1" i="0" u="none" strike="noStrike" spc="-200" dirty="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7" name="AutoShape 2" descr=" 이미지">
            <a:extLst>
              <a:ext uri="{FF2B5EF4-FFF2-40B4-BE49-F238E27FC236}">
                <a16:creationId xmlns:a16="http://schemas.microsoft.com/office/drawing/2014/main" id="{000E821E-2425-4BC3-C19C-5AB638438F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19" name="AutoShape 12">
            <a:extLst>
              <a:ext uri="{FF2B5EF4-FFF2-40B4-BE49-F238E27FC236}">
                <a16:creationId xmlns:a16="http://schemas.microsoft.com/office/drawing/2014/main" id="{99D150A9-83FD-95CB-BD31-02DC6A6366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30AF049-F92B-96FD-145D-1B001E1491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3491" y="2549454"/>
            <a:ext cx="8075909" cy="583579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41B785D-30C1-A6C3-4CD4-C1A5B4FE11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5" y="2555241"/>
            <a:ext cx="2743345" cy="583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3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DF81-1D54-6055-C103-D17778A5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5C2D9AA-D3DC-CFD1-CA3D-86FCBDB62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D014EBE-22CA-07B5-A91C-B3A2AC98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9042B02C-8815-6B7F-813C-1BEA54CF896A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EC4EF0E-84D8-607F-26AB-F1E15CC9C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72B5A0E-AFB8-E625-23EF-155AA20F860A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13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B11329A9-D90E-C56E-68B5-1B57E88B3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9D2986A-152C-7E2F-BF5C-BDE86ABD4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F4467AC3-E6C4-A5BA-C8DB-A74A4C9F63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6AB7A226-0B2D-9844-3F6B-8A75C5500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6BD946D2-C87E-3C0D-8434-E2CF1BDD65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CC7292D9-6702-6F07-D1B5-6E0091C0CAD7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0EADC26-3C8C-CADD-F690-09CD948EAB5C}"/>
              </a:ext>
            </a:extLst>
          </p:cNvPr>
          <p:cNvSpPr txBox="1"/>
          <p:nvPr/>
        </p:nvSpPr>
        <p:spPr>
          <a:xfrm>
            <a:off x="1397569" y="2089340"/>
            <a:ext cx="14690928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수행 일정</a:t>
            </a:r>
            <a:endParaRPr lang="ko-KR" sz="5800" b="1" i="0" u="none" strike="noStrike" spc="-200" dirty="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A480C9-3B8E-E338-D797-D2A2098E02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3380" y="1309103"/>
            <a:ext cx="12218118" cy="744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0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7A8E-6DBA-C049-CBB7-9F242BCB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6B234F4-0545-209E-A287-AC226A449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F1B0E5D-A693-3475-3611-CD88B53F0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CB8CA92-68C5-6713-FCB5-9C21668DAC4F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544F2D8-5A3A-48C6-3DF2-5FD98DB78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3EA8C096-4E98-4DE5-759A-03A1FB954055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14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A28AD0C3-F2BB-5D71-6944-765C0C19A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73C1A2CD-45FF-1CF4-7BCF-1D306A023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9912E3D5-509F-3BC5-1475-EA2D10DFB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AE969220-1BBC-BD2E-9748-837756C63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44EA88C5-03E1-372B-36EF-22C9D8E2B8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45B1754C-2591-83E2-BFF6-BEEA97FA48C5}"/>
              </a:ext>
            </a:extLst>
          </p:cNvPr>
          <p:cNvSpPr txBox="1"/>
          <p:nvPr/>
        </p:nvSpPr>
        <p:spPr>
          <a:xfrm>
            <a:off x="1460500" y="3346640"/>
            <a:ext cx="7476958" cy="522879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altLang="ko-KR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8"/>
              </a:rPr>
              <a:t>[1] </a:t>
            </a:r>
            <a:r>
              <a:rPr lang="ko-KR" altLang="en-US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8"/>
              </a:rPr>
              <a:t>지표누리 웹 사이트</a:t>
            </a:r>
            <a:endParaRPr lang="en-US" altLang="ko-KR" sz="19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  <a:hlinkClick r:id="rId8"/>
            </a:endParaRPr>
          </a:p>
          <a:p>
            <a:pPr lvl="0">
              <a:lnSpc>
                <a:spcPct val="132800"/>
              </a:lnSpc>
            </a:pPr>
            <a:endParaRPr lang="en-US" altLang="ko-KR" sz="19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  <a:hlinkClick r:id="rId8"/>
            </a:endParaRPr>
          </a:p>
          <a:p>
            <a:pPr lvl="0">
              <a:lnSpc>
                <a:spcPct val="132800"/>
              </a:lnSpc>
            </a:pPr>
            <a:r>
              <a:rPr lang="ko-KR" altLang="en-US" sz="19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8"/>
              </a:rPr>
              <a:t> </a:t>
            </a:r>
            <a:endParaRPr lang="en-US" altLang="ko-KR" sz="19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r>
              <a:rPr lang="en-US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9"/>
              </a:rPr>
              <a:t>[2] </a:t>
            </a:r>
            <a:r>
              <a:rPr lang="ko-KR" altLang="en-US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9"/>
              </a:rPr>
              <a:t>한국공학대학교 농구 중계</a:t>
            </a:r>
            <a:endParaRPr lang="en-US" altLang="ko-KR" sz="19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en-US" sz="19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en-US" sz="19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r>
              <a:rPr lang="en-US" altLang="ko-KR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0"/>
              </a:rPr>
              <a:t>[3]</a:t>
            </a:r>
            <a:r>
              <a:rPr lang="ko-KR" altLang="en-US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0"/>
              </a:rPr>
              <a:t> 시나리오 구상 스마트폰 </a:t>
            </a:r>
            <a:r>
              <a:rPr lang="en-US" altLang="ko-KR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0"/>
              </a:rPr>
              <a:t>– Figma</a:t>
            </a:r>
            <a:endParaRPr lang="en-US" sz="19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en-US" sz="19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en-US" sz="19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r>
              <a:rPr lang="en-US" altLang="ko-KR" sz="19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1"/>
              </a:rPr>
              <a:t>[4]</a:t>
            </a:r>
            <a:r>
              <a:rPr lang="ko-KR" altLang="en-US" sz="19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1"/>
              </a:rPr>
              <a:t> 시나리오 구상 웹 브라우저 </a:t>
            </a:r>
            <a:r>
              <a:rPr lang="en-US" altLang="ko-KR" sz="19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1"/>
              </a:rPr>
              <a:t>–</a:t>
            </a:r>
            <a:r>
              <a:rPr lang="ko-KR" altLang="en-US" sz="19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1"/>
              </a:rPr>
              <a:t> </a:t>
            </a:r>
            <a:r>
              <a:rPr lang="en-US" altLang="ko-KR" sz="19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1"/>
              </a:rPr>
              <a:t>Figma</a:t>
            </a:r>
            <a:endParaRPr lang="en-US" altLang="ko-KR" sz="19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en-US" sz="19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endParaRPr lang="en-US" sz="19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>
              <a:lnSpc>
                <a:spcPct val="132800"/>
              </a:lnSpc>
            </a:pPr>
            <a:r>
              <a:rPr lang="en-US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2"/>
              </a:rPr>
              <a:t>[5] </a:t>
            </a:r>
            <a:r>
              <a:rPr lang="ko-KR" altLang="en-US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2"/>
              </a:rPr>
              <a:t>시스템 설계 작업 도구 </a:t>
            </a:r>
            <a:r>
              <a:rPr lang="en-US" altLang="ko-KR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2"/>
              </a:rPr>
              <a:t>-</a:t>
            </a:r>
            <a:r>
              <a:rPr lang="ko-KR" altLang="en-US" sz="19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2"/>
              </a:rPr>
              <a:t> </a:t>
            </a:r>
            <a:r>
              <a:rPr lang="en-US" altLang="ko-KR" sz="1900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12"/>
              </a:rPr>
              <a:t>Figjam</a:t>
            </a:r>
            <a:endParaRPr lang="en-US" sz="19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65B5E91-E1CC-D64A-442E-46E0B2014AED}"/>
              </a:ext>
            </a:extLst>
          </p:cNvPr>
          <p:cNvSpPr txBox="1"/>
          <p:nvPr/>
        </p:nvSpPr>
        <p:spPr>
          <a:xfrm>
            <a:off x="1397569" y="1505140"/>
            <a:ext cx="2032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l   About Us   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3EFE6D9-BE13-BE8A-16E6-F96515A5DDB9}"/>
              </a:ext>
            </a:extLst>
          </p:cNvPr>
          <p:cNvSpPr txBox="1"/>
          <p:nvPr/>
        </p:nvSpPr>
        <p:spPr>
          <a:xfrm>
            <a:off x="1397569" y="2089340"/>
            <a:ext cx="650183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800" b="1" i="0" u="none" strike="noStrike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참고 자료</a:t>
            </a:r>
            <a:r>
              <a:rPr lang="en-US" altLang="ko-KR" sz="5800" b="1" i="0" u="none" strike="noStrike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5800" b="1" i="0" u="none" strike="noStrike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및 도구 </a:t>
            </a:r>
            <a:endParaRPr lang="ko-KR" sz="5800" b="1" i="0" u="none" strike="noStrike" spc="-200" dirty="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6920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8563-D397-0FB5-5058-8DA20AD9B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87F95E9-4BCA-3D59-30B1-6216375E2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863600"/>
            <a:ext cx="17106900" cy="901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FC7184D-14A7-7C25-D7E3-12E9459EA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100" y="9321800"/>
            <a:ext cx="1676400" cy="381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6618350-249E-025F-C6C6-C73FF1D019BE}"/>
              </a:ext>
            </a:extLst>
          </p:cNvPr>
          <p:cNvSpPr txBox="1"/>
          <p:nvPr/>
        </p:nvSpPr>
        <p:spPr>
          <a:xfrm>
            <a:off x="15608300" y="9398000"/>
            <a:ext cx="15240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Miri Company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3FF3816-D020-3CC1-7A7E-CC2EE4FD3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21800"/>
            <a:ext cx="914400" cy="3810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CB876DA-4ABB-D06A-2972-F699A582182A}"/>
              </a:ext>
            </a:extLst>
          </p:cNvPr>
          <p:cNvSpPr txBox="1"/>
          <p:nvPr/>
        </p:nvSpPr>
        <p:spPr>
          <a:xfrm>
            <a:off x="1143000" y="9398000"/>
            <a:ext cx="774700" cy="21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z="12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15</a:t>
            </a:r>
            <a:endParaRPr lang="en-US" sz="12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1EC6F68C-1A04-D9D3-0E93-A59F315E2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533400"/>
            <a:ext cx="17297400" cy="520700"/>
          </a:xfrm>
          <a:prstGeom prst="rect">
            <a:avLst/>
          </a:prstGeom>
          <a:effectLst>
            <a:outerShdw dist="24179" dir="5400000">
              <a:srgbClr val="9E9E9E">
                <a:alpha val="100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61419B4-F2EC-5468-57E6-22CB66A6A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635000"/>
            <a:ext cx="292100" cy="292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04EEFFD-142C-D37C-54BC-86DF075A6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-571500"/>
            <a:ext cx="114300" cy="1435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4BBCFCE-7945-D0EC-755A-0BD8EAA58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9400" y="635000"/>
            <a:ext cx="292100" cy="2921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4169A306-E58E-3308-78E8-92ACD1ECE4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-571500"/>
            <a:ext cx="114300" cy="1435100"/>
          </a:xfrm>
          <a:prstGeom prst="rect">
            <a:avLst/>
          </a:prstGeom>
        </p:spPr>
      </p:pic>
      <p:sp>
        <p:nvSpPr>
          <p:cNvPr id="7" name="TextBox 17">
            <a:extLst>
              <a:ext uri="{FF2B5EF4-FFF2-40B4-BE49-F238E27FC236}">
                <a16:creationId xmlns:a16="http://schemas.microsoft.com/office/drawing/2014/main" id="{E197397F-C3D0-FBA1-B3ED-08A5283ACCD6}"/>
              </a:ext>
            </a:extLst>
          </p:cNvPr>
          <p:cNvSpPr txBox="1"/>
          <p:nvPr/>
        </p:nvSpPr>
        <p:spPr>
          <a:xfrm>
            <a:off x="7251635" y="4629150"/>
            <a:ext cx="3797429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800" b="1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감사합니다</a:t>
            </a:r>
            <a:r>
              <a:rPr lang="en-US" altLang="ko-KR" sz="5800" b="1" spc="-2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  <a:endParaRPr lang="ko-KR" sz="5800" b="1" i="0" u="none" strike="noStrike" spc="-200" dirty="0">
              <a:solidFill>
                <a:srgbClr val="9E9E9E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758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460</Words>
  <Application>Microsoft Macintosh PowerPoint</Application>
  <PresentationFormat>사용자 지정</PresentationFormat>
  <Paragraphs>168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Pretendard Regular</vt:lpstr>
      <vt:lpstr>Gmarket Sans TTF Medium</vt:lpstr>
      <vt:lpstr>Arial</vt:lpstr>
      <vt:lpstr>Gmarket Sans Medium</vt:lpstr>
      <vt:lpstr>Aptos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sulee</dc:creator>
  <cp:lastModifiedBy>이성욱(2021152025)</cp:lastModifiedBy>
  <cp:revision>74</cp:revision>
  <dcterms:created xsi:type="dcterms:W3CDTF">2006-08-16T00:00:00Z</dcterms:created>
  <dcterms:modified xsi:type="dcterms:W3CDTF">2025-11-30T08:37:36Z</dcterms:modified>
</cp:coreProperties>
</file>